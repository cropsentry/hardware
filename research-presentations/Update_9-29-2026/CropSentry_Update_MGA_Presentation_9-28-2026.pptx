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Inter Semi-Bold" charset="1" panose="02000503000000020004"/>
      <p:regular r:id="rId13"/>
    </p:embeddedFont>
    <p:embeddedFont>
      <p:font typeface="Inter" charset="1" panose="020005030000000200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jpeg" Type="http://schemas.openxmlformats.org/officeDocument/2006/relationships/image"/><Relationship Id="rId7" Target="../media/image1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3237"/>
        </a:solidFill>
      </p:bgPr>
    </p:bg>
    <p:spTree>
      <p:nvGrpSpPr>
        <p:cNvPr id="1" name=""/>
        <p:cNvGrpSpPr/>
        <p:nvPr/>
      </p:nvGrpSpPr>
      <p:grpSpPr>
        <a:xfrm>
          <a:off x="0" y="0"/>
          <a:ext cx="0" cy="0"/>
          <a:chOff x="0" y="0"/>
          <a:chExt cx="0" cy="0"/>
        </a:xfrm>
      </p:grpSpPr>
      <p:sp>
        <p:nvSpPr>
          <p:cNvPr name="Freeform 2" id="2"/>
          <p:cNvSpPr/>
          <p:nvPr/>
        </p:nvSpPr>
        <p:spPr>
          <a:xfrm flipH="false" flipV="false" rot="0">
            <a:off x="742950" y="-6825695"/>
            <a:ext cx="9620681" cy="18575732"/>
          </a:xfrm>
          <a:custGeom>
            <a:avLst/>
            <a:gdLst/>
            <a:ahLst/>
            <a:cxnLst/>
            <a:rect r="r" b="b" t="t" l="l"/>
            <a:pathLst>
              <a:path h="18575732" w="9620681">
                <a:moveTo>
                  <a:pt x="0" y="0"/>
                </a:moveTo>
                <a:lnTo>
                  <a:pt x="9620681" y="0"/>
                </a:lnTo>
                <a:lnTo>
                  <a:pt x="9620681" y="18575732"/>
                </a:lnTo>
                <a:lnTo>
                  <a:pt x="0" y="18575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269905" y="-4794765"/>
            <a:ext cx="9249642" cy="7722901"/>
          </a:xfrm>
          <a:prstGeom prst="line">
            <a:avLst/>
          </a:prstGeom>
          <a:ln cap="flat" w="9525">
            <a:solidFill>
              <a:srgbClr val="FFFFFF"/>
            </a:solidFill>
            <a:prstDash val="solid"/>
            <a:headEnd type="none" len="sm" w="sm"/>
            <a:tailEnd type="none" len="sm" w="sm"/>
          </a:ln>
        </p:spPr>
      </p:sp>
      <p:sp>
        <p:nvSpPr>
          <p:cNvPr name="AutoShape 4" id="4"/>
          <p:cNvSpPr/>
          <p:nvPr/>
        </p:nvSpPr>
        <p:spPr>
          <a:xfrm flipV="true">
            <a:off x="-7015967" y="7888587"/>
            <a:ext cx="9249642" cy="7722901"/>
          </a:xfrm>
          <a:prstGeom prst="line">
            <a:avLst/>
          </a:prstGeom>
          <a:ln cap="flat" w="9525">
            <a:solidFill>
              <a:srgbClr val="FFFFFF"/>
            </a:solidFill>
            <a:prstDash val="solid"/>
            <a:headEnd type="none" len="sm" w="sm"/>
            <a:tailEnd type="none" len="sm" w="sm"/>
          </a:ln>
        </p:spPr>
      </p:sp>
      <p:sp>
        <p:nvSpPr>
          <p:cNvPr name="Freeform 5" id="5"/>
          <p:cNvSpPr/>
          <p:nvPr/>
        </p:nvSpPr>
        <p:spPr>
          <a:xfrm flipH="false" flipV="false" rot="-708731">
            <a:off x="2366900" y="4412561"/>
            <a:ext cx="1549010" cy="1461878"/>
          </a:xfrm>
          <a:custGeom>
            <a:avLst/>
            <a:gdLst/>
            <a:ahLst/>
            <a:cxnLst/>
            <a:rect r="r" b="b" t="t" l="l"/>
            <a:pathLst>
              <a:path h="1461878" w="1549010">
                <a:moveTo>
                  <a:pt x="0" y="0"/>
                </a:moveTo>
                <a:lnTo>
                  <a:pt x="1549009" y="0"/>
                </a:lnTo>
                <a:lnTo>
                  <a:pt x="1549009" y="1461878"/>
                </a:lnTo>
                <a:lnTo>
                  <a:pt x="0" y="1461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1395771" y="3774245"/>
            <a:ext cx="5863529" cy="3162300"/>
          </a:xfrm>
          <a:prstGeom prst="rect">
            <a:avLst/>
          </a:prstGeom>
        </p:spPr>
        <p:txBody>
          <a:bodyPr anchor="t" rtlCol="false" tIns="0" lIns="0" bIns="0" rIns="0">
            <a:spAutoFit/>
          </a:bodyPr>
          <a:lstStyle/>
          <a:p>
            <a:pPr algn="l">
              <a:lnSpc>
                <a:spcPts val="8250"/>
              </a:lnSpc>
            </a:pPr>
            <a:r>
              <a:rPr lang="en-US" sz="7500" spc="-225" b="true">
                <a:solidFill>
                  <a:srgbClr val="FFFFFF"/>
                </a:solidFill>
                <a:latin typeface="Inter Semi-Bold"/>
                <a:ea typeface="Inter Semi-Bold"/>
                <a:cs typeface="Inter Semi-Bold"/>
                <a:sym typeface="Inter Semi-Bold"/>
              </a:rPr>
              <a:t>CropSentry</a:t>
            </a:r>
          </a:p>
          <a:p>
            <a:pPr algn="l">
              <a:lnSpc>
                <a:spcPts val="8250"/>
              </a:lnSpc>
            </a:pPr>
            <a:r>
              <a:rPr lang="en-US" sz="7500" spc="-225" b="true">
                <a:solidFill>
                  <a:srgbClr val="FFFFFF"/>
                </a:solidFill>
                <a:latin typeface="Inter Semi-Bold"/>
                <a:ea typeface="Inter Semi-Bold"/>
                <a:cs typeface="Inter Semi-Bold"/>
                <a:sym typeface="Inter Semi-Bold"/>
              </a:rPr>
              <a:t>Update</a:t>
            </a:r>
          </a:p>
          <a:p>
            <a:pPr algn="l">
              <a:lnSpc>
                <a:spcPts val="8250"/>
              </a:lnSpc>
            </a:pPr>
            <a:r>
              <a:rPr lang="en-US" sz="7500" spc="-225" b="true">
                <a:solidFill>
                  <a:srgbClr val="FFFFFF"/>
                </a:solidFill>
                <a:latin typeface="Inter Semi-Bold"/>
                <a:ea typeface="Inter Semi-Bold"/>
                <a:cs typeface="Inter Semi-Bold"/>
                <a:sym typeface="Inter Semi-Bold"/>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436919" y="9993853"/>
            <a:ext cx="10519561" cy="0"/>
          </a:xfrm>
          <a:prstGeom prst="line">
            <a:avLst/>
          </a:prstGeom>
          <a:ln cap="flat" w="38100">
            <a:solidFill>
              <a:srgbClr val="2B3237"/>
            </a:solidFill>
            <a:prstDash val="solid"/>
            <a:headEnd type="none" len="sm" w="sm"/>
            <a:tailEnd type="none" len="sm" w="sm"/>
          </a:ln>
        </p:spPr>
      </p:sp>
      <p:sp>
        <p:nvSpPr>
          <p:cNvPr name="Freeform 4" id="4"/>
          <p:cNvSpPr/>
          <p:nvPr/>
        </p:nvSpPr>
        <p:spPr>
          <a:xfrm flipH="false" flipV="false" rot="0">
            <a:off x="2543801" y="2626006"/>
            <a:ext cx="13200398" cy="3300100"/>
          </a:xfrm>
          <a:custGeom>
            <a:avLst/>
            <a:gdLst/>
            <a:ahLst/>
            <a:cxnLst/>
            <a:rect r="r" b="b" t="t" l="l"/>
            <a:pathLst>
              <a:path h="3300100" w="13200398">
                <a:moveTo>
                  <a:pt x="0" y="0"/>
                </a:moveTo>
                <a:lnTo>
                  <a:pt x="13200398" y="0"/>
                </a:lnTo>
                <a:lnTo>
                  <a:pt x="13200398" y="3300099"/>
                </a:lnTo>
                <a:lnTo>
                  <a:pt x="0" y="3300099"/>
                </a:lnTo>
                <a:lnTo>
                  <a:pt x="0" y="0"/>
                </a:lnTo>
                <a:close/>
              </a:path>
            </a:pathLst>
          </a:custGeom>
          <a:blipFill>
            <a:blip r:embed="rId4"/>
            <a:stretch>
              <a:fillRect l="0" t="0" r="0" b="0"/>
            </a:stretch>
          </a:blipFill>
        </p:spPr>
      </p:sp>
      <p:sp>
        <p:nvSpPr>
          <p:cNvPr name="Freeform 5" id="5"/>
          <p:cNvSpPr/>
          <p:nvPr/>
        </p:nvSpPr>
        <p:spPr>
          <a:xfrm flipH="false" flipV="false" rot="0">
            <a:off x="13475162" y="-61365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812838" y="682392"/>
            <a:ext cx="8662324"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General Update</a:t>
            </a:r>
          </a:p>
        </p:txBody>
      </p:sp>
      <p:grpSp>
        <p:nvGrpSpPr>
          <p:cNvPr name="Group 7" id="7"/>
          <p:cNvGrpSpPr/>
          <p:nvPr/>
        </p:nvGrpSpPr>
        <p:grpSpPr>
          <a:xfrm rot="0">
            <a:off x="1892300" y="6483938"/>
            <a:ext cx="15367000" cy="2942590"/>
            <a:chOff x="0" y="0"/>
            <a:chExt cx="20489333" cy="3923453"/>
          </a:xfrm>
        </p:grpSpPr>
        <p:sp>
          <p:nvSpPr>
            <p:cNvPr name="TextBox 8" id="8"/>
            <p:cNvSpPr txBox="true"/>
            <p:nvPr/>
          </p:nvSpPr>
          <p:spPr>
            <a:xfrm rot="0">
              <a:off x="0" y="57150"/>
              <a:ext cx="5774883"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Where we are</a:t>
              </a:r>
            </a:p>
          </p:txBody>
        </p:sp>
        <p:sp>
          <p:nvSpPr>
            <p:cNvPr name="TextBox 9" id="9"/>
            <p:cNvSpPr txBox="true"/>
            <p:nvPr/>
          </p:nvSpPr>
          <p:spPr>
            <a:xfrm rot="0">
              <a:off x="0" y="907627"/>
              <a:ext cx="5418911" cy="2196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Currently, we are moving into the design phase of our project, pushing into physical manufacturing, finalizing code, and integrating the software/hardware.</a:t>
              </a:r>
            </a:p>
          </p:txBody>
        </p:sp>
        <p:sp>
          <p:nvSpPr>
            <p:cNvPr name="TextBox 10" id="10"/>
            <p:cNvSpPr txBox="true"/>
            <p:nvPr/>
          </p:nvSpPr>
          <p:spPr>
            <a:xfrm rot="0">
              <a:off x="7525675" y="57150"/>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What we’ve done</a:t>
              </a:r>
            </a:p>
          </p:txBody>
        </p:sp>
        <p:sp>
          <p:nvSpPr>
            <p:cNvPr name="TextBox 11" id="11"/>
            <p:cNvSpPr txBox="true"/>
            <p:nvPr/>
          </p:nvSpPr>
          <p:spPr>
            <a:xfrm rot="0">
              <a:off x="7456057" y="838200"/>
              <a:ext cx="5410200" cy="2640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So far, we’ve made progress on all sides of CropSentry. The most notable progress is seen in App Development and Hardware with heavy advancement into further stages of building the project.</a:t>
              </a:r>
            </a:p>
          </p:txBody>
        </p:sp>
        <p:sp>
          <p:nvSpPr>
            <p:cNvPr name="TextBox 12" id="12"/>
            <p:cNvSpPr txBox="true"/>
            <p:nvPr/>
          </p:nvSpPr>
          <p:spPr>
            <a:xfrm rot="0">
              <a:off x="14714450" y="57150"/>
              <a:ext cx="5774883"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Where we plan to be</a:t>
              </a:r>
            </a:p>
          </p:txBody>
        </p:sp>
        <p:sp>
          <p:nvSpPr>
            <p:cNvPr name="TextBox 13" id="13"/>
            <p:cNvSpPr txBox="true"/>
            <p:nvPr/>
          </p:nvSpPr>
          <p:spPr>
            <a:xfrm rot="0">
              <a:off x="14752240" y="838200"/>
              <a:ext cx="5418911" cy="3085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These upcoming weeks for CropSentry will be heavy on design. We plan to build physical models/prototypes, add more integration to the app and its user interface, and build a working machine learning system. </a:t>
              </a:r>
            </a:p>
          </p:txBody>
        </p:sp>
      </p:gr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677855" y="-164473"/>
            <a:ext cx="22453743" cy="12181156"/>
          </a:xfrm>
          <a:custGeom>
            <a:avLst/>
            <a:gdLst/>
            <a:ahLst/>
            <a:cxnLst/>
            <a:rect r="r" b="b" t="t" l="l"/>
            <a:pathLst>
              <a:path h="12181156" w="22453743">
                <a:moveTo>
                  <a:pt x="0" y="0"/>
                </a:moveTo>
                <a:lnTo>
                  <a:pt x="22453743" y="0"/>
                </a:lnTo>
                <a:lnTo>
                  <a:pt x="22453743"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3322237" y="8298474"/>
            <a:ext cx="8292522" cy="3856023"/>
          </a:xfrm>
          <a:custGeom>
            <a:avLst/>
            <a:gdLst/>
            <a:ahLst/>
            <a:cxnLst/>
            <a:rect r="r" b="b" t="t" l="l"/>
            <a:pathLst>
              <a:path h="3856023" w="8292522">
                <a:moveTo>
                  <a:pt x="0" y="0"/>
                </a:moveTo>
                <a:lnTo>
                  <a:pt x="8292523" y="0"/>
                </a:lnTo>
                <a:lnTo>
                  <a:pt x="8292523" y="3856023"/>
                </a:lnTo>
                <a:lnTo>
                  <a:pt x="0" y="3856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1361" y="2535998"/>
            <a:ext cx="5437296" cy="5035580"/>
          </a:xfrm>
          <a:custGeom>
            <a:avLst/>
            <a:gdLst/>
            <a:ahLst/>
            <a:cxnLst/>
            <a:rect r="r" b="b" t="t" l="l"/>
            <a:pathLst>
              <a:path h="5035580" w="5437296">
                <a:moveTo>
                  <a:pt x="0" y="0"/>
                </a:moveTo>
                <a:lnTo>
                  <a:pt x="5437296" y="0"/>
                </a:lnTo>
                <a:lnTo>
                  <a:pt x="5437296" y="5035580"/>
                </a:lnTo>
                <a:lnTo>
                  <a:pt x="0" y="5035580"/>
                </a:lnTo>
                <a:lnTo>
                  <a:pt x="0" y="0"/>
                </a:lnTo>
                <a:close/>
              </a:path>
            </a:pathLst>
          </a:custGeom>
          <a:blipFill>
            <a:blip r:embed="rId6"/>
            <a:stretch>
              <a:fillRect l="-34701" t="-4186" r="-43038" b="-3767"/>
            </a:stretch>
          </a:blipFill>
          <a:ln w="28575" cap="rnd">
            <a:solidFill>
              <a:srgbClr val="000000"/>
            </a:solidFill>
            <a:prstDash val="solid"/>
            <a:round/>
          </a:ln>
        </p:spPr>
      </p:sp>
      <p:sp>
        <p:nvSpPr>
          <p:cNvPr name="Freeform 5" id="5"/>
          <p:cNvSpPr/>
          <p:nvPr/>
        </p:nvSpPr>
        <p:spPr>
          <a:xfrm flipH="false" flipV="false" rot="0">
            <a:off x="6630188" y="2535998"/>
            <a:ext cx="5027624" cy="7351702"/>
          </a:xfrm>
          <a:custGeom>
            <a:avLst/>
            <a:gdLst/>
            <a:ahLst/>
            <a:cxnLst/>
            <a:rect r="r" b="b" t="t" l="l"/>
            <a:pathLst>
              <a:path h="7351702" w="5027624">
                <a:moveTo>
                  <a:pt x="0" y="0"/>
                </a:moveTo>
                <a:lnTo>
                  <a:pt x="5027624" y="0"/>
                </a:lnTo>
                <a:lnTo>
                  <a:pt x="5027624" y="7351702"/>
                </a:lnTo>
                <a:lnTo>
                  <a:pt x="0" y="7351702"/>
                </a:lnTo>
                <a:lnTo>
                  <a:pt x="0" y="0"/>
                </a:lnTo>
                <a:close/>
              </a:path>
            </a:pathLst>
          </a:custGeom>
          <a:blipFill>
            <a:blip r:embed="rId7"/>
            <a:stretch>
              <a:fillRect l="-81189" t="-9" r="-79057" b="-9"/>
            </a:stretch>
          </a:blipFill>
          <a:ln w="28575" cap="rnd">
            <a:solidFill>
              <a:srgbClr val="000000"/>
            </a:solidFill>
            <a:prstDash val="solid"/>
            <a:round/>
          </a:ln>
        </p:spPr>
      </p:sp>
      <p:sp>
        <p:nvSpPr>
          <p:cNvPr name="TextBox 6" id="6"/>
          <p:cNvSpPr txBox="true"/>
          <p:nvPr/>
        </p:nvSpPr>
        <p:spPr>
          <a:xfrm rot="0">
            <a:off x="5756929" y="1085850"/>
            <a:ext cx="6774142"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Hardware</a:t>
            </a:r>
          </a:p>
        </p:txBody>
      </p:sp>
      <p:grpSp>
        <p:nvGrpSpPr>
          <p:cNvPr name="Group 7" id="7"/>
          <p:cNvGrpSpPr/>
          <p:nvPr/>
        </p:nvGrpSpPr>
        <p:grpSpPr>
          <a:xfrm rot="0">
            <a:off x="12983092" y="2016125"/>
            <a:ext cx="4186495" cy="7659410"/>
            <a:chOff x="0" y="0"/>
            <a:chExt cx="5581994" cy="10212546"/>
          </a:xfrm>
        </p:grpSpPr>
        <p:sp>
          <p:nvSpPr>
            <p:cNvPr name="TextBox 8" id="8"/>
            <p:cNvSpPr txBox="true"/>
            <p:nvPr/>
          </p:nvSpPr>
          <p:spPr>
            <a:xfrm rot="0">
              <a:off x="69619" y="57150"/>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Prototyping</a:t>
              </a:r>
            </a:p>
          </p:txBody>
        </p:sp>
        <p:sp>
          <p:nvSpPr>
            <p:cNvPr name="TextBox 9" id="9"/>
            <p:cNvSpPr txBox="true"/>
            <p:nvPr/>
          </p:nvSpPr>
          <p:spPr>
            <a:xfrm rot="0">
              <a:off x="0" y="838200"/>
              <a:ext cx="5410200" cy="1751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In hardware, we have physical 3D models to press-fit the sensors in, as well as a sizing estimate of how big the module will be</a:t>
              </a:r>
            </a:p>
          </p:txBody>
        </p:sp>
        <p:sp>
          <p:nvSpPr>
            <p:cNvPr name="TextBox 10" id="10"/>
            <p:cNvSpPr txBox="true"/>
            <p:nvPr/>
          </p:nvSpPr>
          <p:spPr>
            <a:xfrm rot="0">
              <a:off x="69619" y="4123743"/>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More Improvement</a:t>
              </a:r>
            </a:p>
          </p:txBody>
        </p:sp>
        <p:sp>
          <p:nvSpPr>
            <p:cNvPr name="TextBox 11" id="11"/>
            <p:cNvSpPr txBox="true"/>
            <p:nvPr/>
          </p:nvSpPr>
          <p:spPr>
            <a:xfrm rot="0">
              <a:off x="0" y="4904793"/>
              <a:ext cx="5410200" cy="5307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I have also built a diagram showing how the build will most likely be shaped. This will give us a valid estimate of how much area the device would take up.</a:t>
              </a:r>
            </a:p>
            <a:p>
              <a:pPr algn="l">
                <a:lnSpc>
                  <a:spcPts val="2660"/>
                </a:lnSpc>
              </a:pPr>
            </a:p>
            <a:p>
              <a:pPr algn="l">
                <a:lnSpc>
                  <a:spcPts val="2660"/>
                </a:lnSpc>
              </a:pPr>
              <a:r>
                <a:rPr lang="en-US" sz="1900">
                  <a:solidFill>
                    <a:srgbClr val="2B3237"/>
                  </a:solidFill>
                  <a:latin typeface="Inter"/>
                  <a:ea typeface="Inter"/>
                  <a:cs typeface="Inter"/>
                  <a:sym typeface="Inter"/>
                </a:rPr>
                <a:t>In addition to that, we are close to completing the hardware code for the onboard module. The next steps for finishing it would be to write code to send the data collected over LoRa.</a:t>
              </a: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779340" y="8253618"/>
            <a:ext cx="8292522" cy="3856023"/>
          </a:xfrm>
          <a:custGeom>
            <a:avLst/>
            <a:gdLst/>
            <a:ahLst/>
            <a:cxnLst/>
            <a:rect r="r" b="b" t="t" l="l"/>
            <a:pathLst>
              <a:path h="3856023" w="8292522">
                <a:moveTo>
                  <a:pt x="0" y="0"/>
                </a:moveTo>
                <a:lnTo>
                  <a:pt x="8292522" y="0"/>
                </a:lnTo>
                <a:lnTo>
                  <a:pt x="8292522" y="3856023"/>
                </a:lnTo>
                <a:lnTo>
                  <a:pt x="0" y="3856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746253" y="2748269"/>
            <a:ext cx="5347876" cy="6706409"/>
          </a:xfrm>
          <a:custGeom>
            <a:avLst/>
            <a:gdLst/>
            <a:ahLst/>
            <a:cxnLst/>
            <a:rect r="r" b="b" t="t" l="l"/>
            <a:pathLst>
              <a:path h="6706409" w="5347876">
                <a:moveTo>
                  <a:pt x="0" y="0"/>
                </a:moveTo>
                <a:lnTo>
                  <a:pt x="5347876" y="0"/>
                </a:lnTo>
                <a:lnTo>
                  <a:pt x="5347876" y="6706410"/>
                </a:lnTo>
                <a:lnTo>
                  <a:pt x="0" y="6706410"/>
                </a:lnTo>
                <a:lnTo>
                  <a:pt x="0" y="0"/>
                </a:lnTo>
                <a:close/>
              </a:path>
            </a:pathLst>
          </a:custGeom>
          <a:blipFill>
            <a:blip r:embed="rId6"/>
            <a:stretch>
              <a:fillRect l="0" t="0" r="0" b="0"/>
            </a:stretch>
          </a:blipFill>
          <a:ln w="28575" cap="rnd">
            <a:solidFill>
              <a:srgbClr val="000000"/>
            </a:solidFill>
            <a:prstDash val="solid"/>
            <a:round/>
          </a:ln>
        </p:spPr>
      </p:sp>
      <p:sp>
        <p:nvSpPr>
          <p:cNvPr name="Freeform 5" id="5"/>
          <p:cNvSpPr/>
          <p:nvPr/>
        </p:nvSpPr>
        <p:spPr>
          <a:xfrm flipH="false" flipV="false" rot="0">
            <a:off x="592386" y="389253"/>
            <a:ext cx="4930279" cy="5985358"/>
          </a:xfrm>
          <a:custGeom>
            <a:avLst/>
            <a:gdLst/>
            <a:ahLst/>
            <a:cxnLst/>
            <a:rect r="r" b="b" t="t" l="l"/>
            <a:pathLst>
              <a:path h="5985358" w="4930279">
                <a:moveTo>
                  <a:pt x="0" y="0"/>
                </a:moveTo>
                <a:lnTo>
                  <a:pt x="4930278" y="0"/>
                </a:lnTo>
                <a:lnTo>
                  <a:pt x="4930278" y="5985359"/>
                </a:lnTo>
                <a:lnTo>
                  <a:pt x="0" y="5985359"/>
                </a:lnTo>
                <a:lnTo>
                  <a:pt x="0" y="0"/>
                </a:lnTo>
                <a:close/>
              </a:path>
            </a:pathLst>
          </a:custGeom>
          <a:blipFill>
            <a:blip r:embed="rId7"/>
            <a:stretch>
              <a:fillRect l="0" t="0" r="0" b="0"/>
            </a:stretch>
          </a:blipFill>
          <a:ln w="28575" cap="rnd">
            <a:solidFill>
              <a:srgbClr val="000000"/>
            </a:solidFill>
            <a:prstDash val="solid"/>
            <a:round/>
          </a:ln>
        </p:spPr>
      </p:sp>
      <p:sp>
        <p:nvSpPr>
          <p:cNvPr name="TextBox 6" id="6"/>
          <p:cNvSpPr txBox="true"/>
          <p:nvPr/>
        </p:nvSpPr>
        <p:spPr>
          <a:xfrm rot="0">
            <a:off x="5756929" y="1085850"/>
            <a:ext cx="6774142"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Software</a:t>
            </a:r>
          </a:p>
        </p:txBody>
      </p:sp>
      <p:grpSp>
        <p:nvGrpSpPr>
          <p:cNvPr name="Group 7" id="7"/>
          <p:cNvGrpSpPr/>
          <p:nvPr/>
        </p:nvGrpSpPr>
        <p:grpSpPr>
          <a:xfrm rot="0">
            <a:off x="1028700" y="6788602"/>
            <a:ext cx="5008858" cy="2930032"/>
            <a:chOff x="0" y="0"/>
            <a:chExt cx="6678478" cy="3906709"/>
          </a:xfrm>
        </p:grpSpPr>
        <p:sp>
          <p:nvSpPr>
            <p:cNvPr name="TextBox 8" id="8"/>
            <p:cNvSpPr txBox="true"/>
            <p:nvPr/>
          </p:nvSpPr>
          <p:spPr>
            <a:xfrm rot="0">
              <a:off x="69619" y="57150"/>
              <a:ext cx="6608859"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CropSentry App</a:t>
              </a:r>
            </a:p>
          </p:txBody>
        </p:sp>
        <p:sp>
          <p:nvSpPr>
            <p:cNvPr name="TextBox 9" id="9"/>
            <p:cNvSpPr txBox="true"/>
            <p:nvPr/>
          </p:nvSpPr>
          <p:spPr>
            <a:xfrm rot="0">
              <a:off x="0" y="821456"/>
              <a:ext cx="5410200" cy="3085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Over the last few weeks, Aahan coded the frontend app for CropSentry. In it, you can make an account, add multiple devices, view an informational graph, and, looking further, review an AI summary of your information.</a:t>
              </a:r>
            </a:p>
          </p:txBody>
        </p:sp>
      </p:grpSp>
      <p:sp>
        <p:nvSpPr>
          <p:cNvPr name="TextBox 10" id="10"/>
          <p:cNvSpPr txBox="true"/>
          <p:nvPr/>
        </p:nvSpPr>
        <p:spPr>
          <a:xfrm rot="0">
            <a:off x="13439803" y="1579563"/>
            <a:ext cx="4134282"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Looking Foward</a:t>
            </a:r>
          </a:p>
        </p:txBody>
      </p:sp>
      <p:sp>
        <p:nvSpPr>
          <p:cNvPr name="TextBox 11" id="11"/>
          <p:cNvSpPr txBox="true"/>
          <p:nvPr/>
        </p:nvSpPr>
        <p:spPr>
          <a:xfrm rot="0">
            <a:off x="13387589" y="2141537"/>
            <a:ext cx="4057650" cy="4990465"/>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Aahan is working on continuing the backend and is currently programming data integration throughout the app. The current goal is to get data flowing through the frontend as soon as realistically possible.</a:t>
            </a:r>
          </a:p>
          <a:p>
            <a:pPr algn="l">
              <a:lnSpc>
                <a:spcPts val="2660"/>
              </a:lnSpc>
            </a:pPr>
          </a:p>
          <a:p>
            <a:pPr algn="l">
              <a:lnSpc>
                <a:spcPts val="2660"/>
              </a:lnSpc>
            </a:pPr>
            <a:r>
              <a:rPr lang="en-US" sz="1900">
                <a:solidFill>
                  <a:srgbClr val="2B3237"/>
                </a:solidFill>
                <a:latin typeface="Inter"/>
                <a:ea typeface="Inter"/>
                <a:cs typeface="Inter"/>
                <a:sym typeface="Inter"/>
              </a:rPr>
              <a:t>We have also recently received permission to use the Museum of Aviation’s new GEAR Lab server for app and device computation, which we will be actively working on to integrate all fields of software onto their machine.</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207405" y="2519959"/>
            <a:ext cx="5961681" cy="3644673"/>
          </a:xfrm>
          <a:custGeom>
            <a:avLst/>
            <a:gdLst/>
            <a:ahLst/>
            <a:cxnLst/>
            <a:rect r="r" b="b" t="t" l="l"/>
            <a:pathLst>
              <a:path h="3644673" w="5961681">
                <a:moveTo>
                  <a:pt x="0" y="0"/>
                </a:moveTo>
                <a:lnTo>
                  <a:pt x="5961681" y="0"/>
                </a:lnTo>
                <a:lnTo>
                  <a:pt x="5961681" y="3644674"/>
                </a:lnTo>
                <a:lnTo>
                  <a:pt x="0" y="3644674"/>
                </a:lnTo>
                <a:lnTo>
                  <a:pt x="0" y="0"/>
                </a:lnTo>
                <a:close/>
              </a:path>
            </a:pathLst>
          </a:custGeom>
          <a:blipFill>
            <a:blip r:embed="rId4"/>
            <a:stretch>
              <a:fillRect l="-1572" t="-2261" r="-2332" b="0"/>
            </a:stretch>
          </a:blipFill>
          <a:ln w="28575" cap="rnd">
            <a:solidFill>
              <a:srgbClr val="000000"/>
            </a:solidFill>
            <a:prstDash val="solid"/>
            <a:round/>
          </a:ln>
        </p:spPr>
      </p:sp>
      <p:sp>
        <p:nvSpPr>
          <p:cNvPr name="Freeform 4" id="4"/>
          <p:cNvSpPr/>
          <p:nvPr/>
        </p:nvSpPr>
        <p:spPr>
          <a:xfrm flipH="false" flipV="false" rot="0">
            <a:off x="7117191" y="6415273"/>
            <a:ext cx="10142109" cy="3355624"/>
          </a:xfrm>
          <a:custGeom>
            <a:avLst/>
            <a:gdLst/>
            <a:ahLst/>
            <a:cxnLst/>
            <a:rect r="r" b="b" t="t" l="l"/>
            <a:pathLst>
              <a:path h="3355624" w="10142109">
                <a:moveTo>
                  <a:pt x="0" y="0"/>
                </a:moveTo>
                <a:lnTo>
                  <a:pt x="10142109" y="0"/>
                </a:lnTo>
                <a:lnTo>
                  <a:pt x="10142109" y="3355623"/>
                </a:lnTo>
                <a:lnTo>
                  <a:pt x="0" y="3355623"/>
                </a:lnTo>
                <a:lnTo>
                  <a:pt x="0" y="0"/>
                </a:lnTo>
                <a:close/>
              </a:path>
            </a:pathLst>
          </a:custGeom>
          <a:blipFill>
            <a:blip r:embed="rId5"/>
            <a:stretch>
              <a:fillRect l="0" t="0" r="0" b="0"/>
            </a:stretch>
          </a:blipFill>
          <a:ln w="28575" cap="rnd">
            <a:solidFill>
              <a:srgbClr val="000000"/>
            </a:solidFill>
            <a:prstDash val="solid"/>
            <a:round/>
          </a:ln>
        </p:spPr>
      </p:sp>
      <p:sp>
        <p:nvSpPr>
          <p:cNvPr name="TextBox 5" id="5"/>
          <p:cNvSpPr txBox="true"/>
          <p:nvPr/>
        </p:nvSpPr>
        <p:spPr>
          <a:xfrm rot="0">
            <a:off x="5756929" y="1085850"/>
            <a:ext cx="6774142" cy="930275"/>
          </a:xfrm>
          <a:prstGeom prst="rect">
            <a:avLst/>
          </a:prstGeom>
        </p:spPr>
        <p:txBody>
          <a:bodyPr anchor="t" rtlCol="false" tIns="0" lIns="0" bIns="0" rIns="0">
            <a:spAutoFit/>
          </a:bodyPr>
          <a:lstStyle/>
          <a:p>
            <a:pPr algn="l">
              <a:lnSpc>
                <a:spcPts val="7150"/>
              </a:lnSpc>
            </a:pPr>
            <a:r>
              <a:rPr lang="en-US" sz="6500" spc="-195" b="true">
                <a:solidFill>
                  <a:srgbClr val="2B3237"/>
                </a:solidFill>
                <a:latin typeface="Inter Semi-Bold"/>
                <a:ea typeface="Inter Semi-Bold"/>
                <a:cs typeface="Inter Semi-Bold"/>
                <a:sym typeface="Inter Semi-Bold"/>
              </a:rPr>
              <a:t>Machine Learning</a:t>
            </a:r>
          </a:p>
        </p:txBody>
      </p:sp>
      <p:sp>
        <p:nvSpPr>
          <p:cNvPr name="TextBox 6" id="6"/>
          <p:cNvSpPr txBox="true"/>
          <p:nvPr/>
        </p:nvSpPr>
        <p:spPr>
          <a:xfrm rot="0">
            <a:off x="853732" y="6860186"/>
            <a:ext cx="4134282"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Progress Made</a:t>
            </a:r>
          </a:p>
        </p:txBody>
      </p:sp>
      <p:sp>
        <p:nvSpPr>
          <p:cNvPr name="TextBox 7" id="7"/>
          <p:cNvSpPr txBox="true"/>
          <p:nvPr/>
        </p:nvSpPr>
        <p:spPr>
          <a:xfrm rot="0">
            <a:off x="801518" y="7422160"/>
            <a:ext cx="4955411" cy="1656715"/>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So far, Jay has coded the model to make a prediction based on a given data value. It prints 5 output variables so the user can see what a potential concern would be within their crop.</a:t>
            </a:r>
          </a:p>
        </p:txBody>
      </p:sp>
      <p:sp>
        <p:nvSpPr>
          <p:cNvPr name="TextBox 8" id="8"/>
          <p:cNvSpPr txBox="true"/>
          <p:nvPr/>
        </p:nvSpPr>
        <p:spPr>
          <a:xfrm rot="0">
            <a:off x="853732" y="2711298"/>
            <a:ext cx="4134282"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What is it?</a:t>
            </a:r>
          </a:p>
        </p:txBody>
      </p:sp>
      <p:sp>
        <p:nvSpPr>
          <p:cNvPr name="TextBox 9" id="9"/>
          <p:cNvSpPr txBox="true"/>
          <p:nvPr/>
        </p:nvSpPr>
        <p:spPr>
          <a:xfrm rot="0">
            <a:off x="801518" y="3273273"/>
            <a:ext cx="4955411" cy="2323465"/>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The CropSentry Machine Learning System predicts whether a crop observation is healthy or has stripe_rust from temperature, moisture, crop type, and a fixed-order list of VOC measurements. Yellow-rust observations are grouped under the stripe_rust status.</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00025" y="3127873"/>
            <a:ext cx="5245361" cy="5245361"/>
          </a:xfrm>
          <a:custGeom>
            <a:avLst/>
            <a:gdLst/>
            <a:ahLst/>
            <a:cxnLst/>
            <a:rect r="r" b="b" t="t" l="l"/>
            <a:pathLst>
              <a:path h="5245361" w="5245361">
                <a:moveTo>
                  <a:pt x="0" y="0"/>
                </a:moveTo>
                <a:lnTo>
                  <a:pt x="5245361" y="0"/>
                </a:lnTo>
                <a:lnTo>
                  <a:pt x="5245361" y="5245361"/>
                </a:lnTo>
                <a:lnTo>
                  <a:pt x="0" y="5245361"/>
                </a:lnTo>
                <a:lnTo>
                  <a:pt x="0" y="0"/>
                </a:lnTo>
                <a:close/>
              </a:path>
            </a:pathLst>
          </a:custGeom>
          <a:blipFill>
            <a:blip r:embed="rId4"/>
            <a:stretch>
              <a:fillRect l="0" t="0" r="0" b="0"/>
            </a:stretch>
          </a:blipFill>
        </p:spPr>
      </p:sp>
      <p:sp>
        <p:nvSpPr>
          <p:cNvPr name="Freeform 4" id="4"/>
          <p:cNvSpPr/>
          <p:nvPr/>
        </p:nvSpPr>
        <p:spPr>
          <a:xfrm flipH="false" flipV="false" rot="-1801126">
            <a:off x="-1854801" y="8133919"/>
            <a:ext cx="5767002" cy="5767002"/>
          </a:xfrm>
          <a:custGeom>
            <a:avLst/>
            <a:gdLst/>
            <a:ahLst/>
            <a:cxnLst/>
            <a:rect r="r" b="b" t="t" l="l"/>
            <a:pathLst>
              <a:path h="5767002" w="5767002">
                <a:moveTo>
                  <a:pt x="0" y="0"/>
                </a:moveTo>
                <a:lnTo>
                  <a:pt x="5767002" y="0"/>
                </a:lnTo>
                <a:lnTo>
                  <a:pt x="5767002" y="5767002"/>
                </a:lnTo>
                <a:lnTo>
                  <a:pt x="0" y="57670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756929" y="1121392"/>
            <a:ext cx="6774142"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See our work</a:t>
            </a:r>
          </a:p>
        </p:txBody>
      </p:sp>
      <p:grpSp>
        <p:nvGrpSpPr>
          <p:cNvPr name="Group 6" id="6"/>
          <p:cNvGrpSpPr/>
          <p:nvPr/>
        </p:nvGrpSpPr>
        <p:grpSpPr>
          <a:xfrm rot="0">
            <a:off x="1738568" y="4348342"/>
            <a:ext cx="7813301" cy="1590316"/>
            <a:chOff x="0" y="0"/>
            <a:chExt cx="10417735" cy="2120422"/>
          </a:xfrm>
        </p:grpSpPr>
        <p:sp>
          <p:nvSpPr>
            <p:cNvPr name="TextBox 7" id="7"/>
            <p:cNvSpPr txBox="true"/>
            <p:nvPr/>
          </p:nvSpPr>
          <p:spPr>
            <a:xfrm rot="0">
              <a:off x="1555321" y="57150"/>
              <a:ext cx="7307092" cy="690850"/>
            </a:xfrm>
            <a:prstGeom prst="rect">
              <a:avLst/>
            </a:prstGeom>
          </p:spPr>
          <p:txBody>
            <a:bodyPr anchor="t" rtlCol="false" tIns="0" lIns="0" bIns="0" rIns="0">
              <a:spAutoFit/>
            </a:bodyPr>
            <a:lstStyle/>
            <a:p>
              <a:pPr algn="ctr">
                <a:lnSpc>
                  <a:spcPts val="3711"/>
                </a:lnSpc>
                <a:spcBef>
                  <a:spcPct val="0"/>
                </a:spcBef>
              </a:pPr>
              <a:r>
                <a:rPr lang="en-US" b="true" sz="3711">
                  <a:solidFill>
                    <a:srgbClr val="2B3237"/>
                  </a:solidFill>
                  <a:latin typeface="Inter Semi-Bold"/>
                  <a:ea typeface="Inter Semi-Bold"/>
                  <a:cs typeface="Inter Semi-Bold"/>
                  <a:sym typeface="Inter Semi-Bold"/>
                </a:rPr>
                <a:t>GitHub Link</a:t>
              </a:r>
            </a:p>
          </p:txBody>
        </p:sp>
        <p:sp>
          <p:nvSpPr>
            <p:cNvPr name="TextBox 8" id="8"/>
            <p:cNvSpPr txBox="true"/>
            <p:nvPr/>
          </p:nvSpPr>
          <p:spPr>
            <a:xfrm rot="0">
              <a:off x="0" y="1065272"/>
              <a:ext cx="10417735" cy="1055150"/>
            </a:xfrm>
            <a:prstGeom prst="rect">
              <a:avLst/>
            </a:prstGeom>
          </p:spPr>
          <p:txBody>
            <a:bodyPr anchor="t" rtlCol="false" tIns="0" lIns="0" bIns="0" rIns="0">
              <a:spAutoFit/>
            </a:bodyPr>
            <a:lstStyle/>
            <a:p>
              <a:pPr algn="l">
                <a:lnSpc>
                  <a:spcPts val="3249"/>
                </a:lnSpc>
              </a:pPr>
              <a:r>
                <a:rPr lang="en-US" sz="2321">
                  <a:solidFill>
                    <a:srgbClr val="2B3237"/>
                  </a:solidFill>
                  <a:latin typeface="Inter"/>
                  <a:ea typeface="Inter"/>
                  <a:cs typeface="Inter"/>
                  <a:sym typeface="Inter"/>
                </a:rPr>
                <a:t>If anyone is interested in keeping up with the CropSentry project, you can find our GitHub Organization link here:</a:t>
              </a:r>
            </a:p>
          </p:txBody>
        </p:sp>
      </p:gr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088615" y="-309613"/>
            <a:ext cx="16834345" cy="9897192"/>
          </a:xfrm>
          <a:custGeom>
            <a:avLst/>
            <a:gdLst/>
            <a:ahLst/>
            <a:cxnLst/>
            <a:rect r="r" b="b" t="t" l="l"/>
            <a:pathLst>
              <a:path h="9897192" w="16834345">
                <a:moveTo>
                  <a:pt x="16834344" y="0"/>
                </a:moveTo>
                <a:lnTo>
                  <a:pt x="0" y="0"/>
                </a:lnTo>
                <a:lnTo>
                  <a:pt x="0" y="9897192"/>
                </a:lnTo>
                <a:lnTo>
                  <a:pt x="16834344" y="9897192"/>
                </a:lnTo>
                <a:lnTo>
                  <a:pt x="1683434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30633" y="2579145"/>
            <a:ext cx="1226734" cy="2303726"/>
          </a:xfrm>
          <a:custGeom>
            <a:avLst/>
            <a:gdLst/>
            <a:ahLst/>
            <a:cxnLst/>
            <a:rect r="r" b="b" t="t" l="l"/>
            <a:pathLst>
              <a:path h="2303726" w="1226734">
                <a:moveTo>
                  <a:pt x="0" y="0"/>
                </a:moveTo>
                <a:lnTo>
                  <a:pt x="1226734" y="0"/>
                </a:lnTo>
                <a:lnTo>
                  <a:pt x="1226734" y="2303726"/>
                </a:lnTo>
                <a:lnTo>
                  <a:pt x="0" y="2303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23200" y="6477187"/>
            <a:ext cx="149119" cy="223819"/>
          </a:xfrm>
          <a:custGeom>
            <a:avLst/>
            <a:gdLst/>
            <a:ahLst/>
            <a:cxnLst/>
            <a:rect r="r" b="b" t="t" l="l"/>
            <a:pathLst>
              <a:path h="223819" w="149119">
                <a:moveTo>
                  <a:pt x="0" y="0"/>
                </a:moveTo>
                <a:lnTo>
                  <a:pt x="149119" y="0"/>
                </a:lnTo>
                <a:lnTo>
                  <a:pt x="149119" y="223819"/>
                </a:lnTo>
                <a:lnTo>
                  <a:pt x="0" y="2238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829300">
            <a:off x="-1583998" y="-2686234"/>
            <a:ext cx="4867000" cy="5043523"/>
          </a:xfrm>
          <a:custGeom>
            <a:avLst/>
            <a:gdLst/>
            <a:ahLst/>
            <a:cxnLst/>
            <a:rect r="r" b="b" t="t" l="l"/>
            <a:pathLst>
              <a:path h="5043523" w="4867000">
                <a:moveTo>
                  <a:pt x="0" y="0"/>
                </a:moveTo>
                <a:lnTo>
                  <a:pt x="4867000" y="0"/>
                </a:lnTo>
                <a:lnTo>
                  <a:pt x="4867000" y="5043523"/>
                </a:lnTo>
                <a:lnTo>
                  <a:pt x="0" y="5043523"/>
                </a:lnTo>
                <a:lnTo>
                  <a:pt x="0" y="0"/>
                </a:lnTo>
                <a:close/>
              </a:path>
            </a:pathLst>
          </a:custGeom>
          <a:blipFill>
            <a:blip r:embed="rId10">
              <a:alphaModFix amt="6300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3235708"/>
            <a:ext cx="5150218" cy="1066800"/>
          </a:xfrm>
          <a:prstGeom prst="rect">
            <a:avLst/>
          </a:prstGeom>
        </p:spPr>
        <p:txBody>
          <a:bodyPr anchor="t" rtlCol="false" tIns="0" lIns="0" bIns="0" rIns="0">
            <a:spAutoFit/>
          </a:bodyPr>
          <a:lstStyle/>
          <a:p>
            <a:pPr algn="l">
              <a:lnSpc>
                <a:spcPts val="8250"/>
              </a:lnSpc>
            </a:pPr>
            <a:r>
              <a:rPr lang="en-US" sz="7500" spc="-225" b="true">
                <a:solidFill>
                  <a:srgbClr val="2B3237"/>
                </a:solidFill>
                <a:latin typeface="Inter Semi-Bold"/>
                <a:ea typeface="Inter Semi-Bold"/>
                <a:cs typeface="Inter Semi-Bold"/>
                <a:sym typeface="Inter Semi-Bold"/>
              </a:rPr>
              <a:t>Q/A</a:t>
            </a:r>
          </a:p>
        </p:txBody>
      </p:sp>
      <p:sp>
        <p:nvSpPr>
          <p:cNvPr name="TextBox 8" id="8"/>
          <p:cNvSpPr txBox="true"/>
          <p:nvPr/>
        </p:nvSpPr>
        <p:spPr>
          <a:xfrm rot="0">
            <a:off x="1028700" y="4632512"/>
            <a:ext cx="6221193" cy="701675"/>
          </a:xfrm>
          <a:prstGeom prst="rect">
            <a:avLst/>
          </a:prstGeom>
        </p:spPr>
        <p:txBody>
          <a:bodyPr anchor="t" rtlCol="false" tIns="0" lIns="0" bIns="0" rIns="0">
            <a:spAutoFit/>
          </a:bodyPr>
          <a:lstStyle/>
          <a:p>
            <a:pPr algn="l">
              <a:lnSpc>
                <a:spcPts val="2800"/>
              </a:lnSpc>
            </a:pPr>
            <a:r>
              <a:rPr lang="en-US" sz="2000">
                <a:solidFill>
                  <a:srgbClr val="2B3237"/>
                </a:solidFill>
                <a:latin typeface="Inter"/>
                <a:ea typeface="Inter"/>
                <a:cs typeface="Inter"/>
                <a:sym typeface="Inter"/>
              </a:rPr>
              <a:t>Thank you for being a part of this presentation! Any questions are appreciated.</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DAHWiI0MBok</dc:identifier>
  <dcterms:modified xsi:type="dcterms:W3CDTF">2011-08-01T06:04:30Z</dcterms:modified>
  <cp:revision>1</cp:revision>
  <dc:title>CropSentry_Update_MGA_Presentation_9-28-2026</dc:title>
</cp:coreProperties>
</file>