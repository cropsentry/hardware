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nter Semi-Bold" charset="1" panose="02000503000000020004"/>
      <p:regular r:id="rId15"/>
    </p:embeddedFont>
    <p:embeddedFont>
      <p:font typeface="Inter Bold" charset="1" panose="02000503000000020004"/>
      <p:regular r:id="rId16"/>
    </p:embeddedFont>
    <p:embeddedFont>
      <p:font typeface="Inter" charset="1" panose="02000503000000020004"/>
      <p:regular r:id="rId17"/>
    </p:embeddedFont>
    <p:embeddedFont>
      <p:font typeface="Times New Roman" charset="1" panose="020206030504050203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Creating and storing user data for secure access to their farm data. This is done using Firebase Auth.</a:t>
            </a:r>
          </a:p>
          <a:p>
            <a:r>
              <a:rPr lang="en-US"/>
              <a:t>2. IO streams that connect to the server and app creating constant data streaming.</a:t>
            </a:r>
          </a:p>
          <a:p>
            <a:r>
              <a:rPr lang="en-US"/>
              <a:t>3. A machine learning model that is able to learn and detect when and what disease is in the field</a:t>
            </a:r>
          </a:p>
          <a:p>
            <a:r>
              <a:rPr lang="en-US"/>
              <a:t>4. Real time dashboard showing all the sentries</a:t>
            </a:r>
          </a:p>
          <a:p>
            <a:r>
              <a:rPr lang="en-US"/>
              <a:t>5. Push Notifications that the user can enable and receive immediately.</a:t>
            </a:r>
          </a:p>
          <a:p>
            <a:r>
              <a:rPr lang="en-US"/>
              <a:t>6. Graphs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2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2950" y="-6825695"/>
            <a:ext cx="9620681" cy="18575732"/>
          </a:xfrm>
          <a:custGeom>
            <a:avLst/>
            <a:gdLst/>
            <a:ahLst/>
            <a:cxnLst/>
            <a:rect r="r" b="b" t="t" l="l"/>
            <a:pathLst>
              <a:path h="18575732" w="9620681">
                <a:moveTo>
                  <a:pt x="0" y="0"/>
                </a:moveTo>
                <a:lnTo>
                  <a:pt x="9620681" y="0"/>
                </a:lnTo>
                <a:lnTo>
                  <a:pt x="9620681" y="18575732"/>
                </a:lnTo>
                <a:lnTo>
                  <a:pt x="0" y="18575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8269905" y="-4794765"/>
            <a:ext cx="9249642" cy="7722901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7015967" y="7888587"/>
            <a:ext cx="9249642" cy="7722901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708731">
            <a:off x="2366900" y="4412561"/>
            <a:ext cx="1549010" cy="1461878"/>
          </a:xfrm>
          <a:custGeom>
            <a:avLst/>
            <a:gdLst/>
            <a:ahLst/>
            <a:cxnLst/>
            <a:rect r="r" b="b" t="t" l="l"/>
            <a:pathLst>
              <a:path h="1461878" w="1549010">
                <a:moveTo>
                  <a:pt x="0" y="0"/>
                </a:moveTo>
                <a:lnTo>
                  <a:pt x="1549009" y="0"/>
                </a:lnTo>
                <a:lnTo>
                  <a:pt x="1549009" y="1461878"/>
                </a:lnTo>
                <a:lnTo>
                  <a:pt x="0" y="1461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395771" y="3774245"/>
            <a:ext cx="5863529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 spc="-225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CropSentry</a:t>
            </a:r>
          </a:p>
          <a:p>
            <a:pPr algn="l">
              <a:lnSpc>
                <a:spcPts val="8250"/>
              </a:lnSpc>
            </a:pPr>
            <a:r>
              <a:rPr lang="en-US" sz="7500" spc="-225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Research</a:t>
            </a:r>
          </a:p>
          <a:p>
            <a:pPr algn="l">
              <a:lnSpc>
                <a:spcPts val="8250"/>
              </a:lnSpc>
            </a:pPr>
            <a:r>
              <a:rPr lang="en-US" sz="7500" spc="-225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101" y="597947"/>
            <a:ext cx="16757798" cy="9091105"/>
          </a:xfrm>
          <a:custGeom>
            <a:avLst/>
            <a:gdLst/>
            <a:ahLst/>
            <a:cxnLst/>
            <a:rect r="r" b="b" t="t" l="l"/>
            <a:pathLst>
              <a:path h="9091105" w="16757798">
                <a:moveTo>
                  <a:pt x="0" y="0"/>
                </a:moveTo>
                <a:lnTo>
                  <a:pt x="16757798" y="0"/>
                </a:lnTo>
                <a:lnTo>
                  <a:pt x="16757798" y="9091106"/>
                </a:lnTo>
                <a:lnTo>
                  <a:pt x="0" y="90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801132" y="9898603"/>
            <a:ext cx="10519561" cy="0"/>
          </a:xfrm>
          <a:prstGeom prst="line">
            <a:avLst/>
          </a:prstGeom>
          <a:ln cap="flat" w="38100">
            <a:solidFill>
              <a:srgbClr val="2B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979188" y="-189501"/>
            <a:ext cx="9562893" cy="9562893"/>
          </a:xfrm>
          <a:custGeom>
            <a:avLst/>
            <a:gdLst/>
            <a:ahLst/>
            <a:cxnLst/>
            <a:rect r="r" b="b" t="t" l="l"/>
            <a:pathLst>
              <a:path h="9562893" w="9562893">
                <a:moveTo>
                  <a:pt x="0" y="0"/>
                </a:moveTo>
                <a:lnTo>
                  <a:pt x="9562893" y="0"/>
                </a:lnTo>
                <a:lnTo>
                  <a:pt x="9562893" y="9562893"/>
                </a:lnTo>
                <a:lnTo>
                  <a:pt x="0" y="9562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09343" y="5385609"/>
            <a:ext cx="5050330" cy="5372692"/>
          </a:xfrm>
          <a:custGeom>
            <a:avLst/>
            <a:gdLst/>
            <a:ahLst/>
            <a:cxnLst/>
            <a:rect r="r" b="b" t="t" l="l"/>
            <a:pathLst>
              <a:path h="5372692" w="5050330">
                <a:moveTo>
                  <a:pt x="0" y="0"/>
                </a:moveTo>
                <a:lnTo>
                  <a:pt x="5050331" y="0"/>
                </a:lnTo>
                <a:lnTo>
                  <a:pt x="5050331" y="5372692"/>
                </a:lnTo>
                <a:lnTo>
                  <a:pt x="0" y="537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98310" y="932941"/>
            <a:ext cx="8662324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-195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15217"/>
            <a:ext cx="4331162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Industry Concerns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81070" y="3015217"/>
            <a:ext cx="2378230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$220B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81070" y="4649096"/>
            <a:ext cx="2378230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Bold"/>
                <a:ea typeface="Inter Bold"/>
                <a:cs typeface="Inter Bold"/>
                <a:sym typeface="Inter Bold"/>
              </a:rPr>
              <a:t>20-40%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06646" y="6540150"/>
            <a:ext cx="3052654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63M+ tons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29262"/>
            <a:ext cx="4064183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2B3237"/>
                </a:solidFill>
                <a:latin typeface="Inter"/>
                <a:ea typeface="Inter"/>
                <a:cs typeface="Inter"/>
                <a:sym typeface="Inter"/>
              </a:rPr>
              <a:t>Over $60B is spent annually on crop protection applied on a calendar schedule or after symptoms appear, not when stress begins.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81070" y="3591162"/>
            <a:ext cx="2378230" cy="5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90"/>
              </a:lnSpc>
            </a:pPr>
            <a:r>
              <a:rPr lang="en-US" sz="1900">
                <a:solidFill>
                  <a:srgbClr val="2B3237"/>
                </a:solidFill>
                <a:latin typeface="Inter"/>
                <a:ea typeface="Inter"/>
                <a:cs typeface="Inter"/>
                <a:sym typeface="Inter"/>
              </a:rPr>
              <a:t>Lost from plant disease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82085" y="5225041"/>
            <a:ext cx="1877215" cy="77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90"/>
              </a:lnSpc>
            </a:pPr>
            <a:r>
              <a:rPr lang="en-US" sz="1900">
                <a:solidFill>
                  <a:srgbClr val="2B3237"/>
                </a:solidFill>
                <a:latin typeface="Inter"/>
                <a:ea typeface="Inter"/>
                <a:cs typeface="Inter"/>
                <a:sym typeface="Inter"/>
              </a:rPr>
              <a:t>Globally lost plants due to diseases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82085" y="7116095"/>
            <a:ext cx="1877215" cy="77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90"/>
              </a:lnSpc>
            </a:pPr>
            <a:r>
              <a:rPr lang="en-US" sz="1900">
                <a:solidFill>
                  <a:srgbClr val="2B3237"/>
                </a:solidFill>
                <a:latin typeface="Inter"/>
                <a:ea typeface="Inter"/>
                <a:cs typeface="Inter"/>
                <a:sym typeface="Inter"/>
              </a:rPr>
              <a:t>Lost crops in America from the past 4 years</a:t>
            </a: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1779340" y="8253618"/>
            <a:ext cx="8292522" cy="3856023"/>
          </a:xfrm>
          <a:custGeom>
            <a:avLst/>
            <a:gdLst/>
            <a:ahLst/>
            <a:cxnLst/>
            <a:rect r="r" b="b" t="t" l="l"/>
            <a:pathLst>
              <a:path h="3856023" w="8292522">
                <a:moveTo>
                  <a:pt x="0" y="0"/>
                </a:moveTo>
                <a:lnTo>
                  <a:pt x="8292522" y="0"/>
                </a:lnTo>
                <a:lnTo>
                  <a:pt x="8292522" y="3856023"/>
                </a:lnTo>
                <a:lnTo>
                  <a:pt x="0" y="3856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79981" y="1933675"/>
            <a:ext cx="9282092" cy="7053603"/>
          </a:xfrm>
          <a:custGeom>
            <a:avLst/>
            <a:gdLst/>
            <a:ahLst/>
            <a:cxnLst/>
            <a:rect r="r" b="b" t="t" l="l"/>
            <a:pathLst>
              <a:path h="7053603" w="9282092">
                <a:moveTo>
                  <a:pt x="0" y="0"/>
                </a:moveTo>
                <a:lnTo>
                  <a:pt x="9282092" y="0"/>
                </a:lnTo>
                <a:lnTo>
                  <a:pt x="9282092" y="7053603"/>
                </a:lnTo>
                <a:lnTo>
                  <a:pt x="0" y="7053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80" t="0" r="-924" b="-37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73568"/>
            <a:ext cx="6774142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-195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The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039610"/>
            <a:ext cx="4134282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Abou</a:t>
            </a:r>
            <a:r>
              <a:rPr lang="en-US" b="true" sz="2799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 the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6486" y="7601585"/>
            <a:ext cx="4057650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2B3237"/>
                </a:solidFill>
                <a:latin typeface="Inter"/>
                <a:ea typeface="Inter"/>
                <a:cs typeface="Inter"/>
                <a:sym typeface="Inter"/>
              </a:rPr>
              <a:t>CropSentry reads the compounds a plant emits, plus soil and ambient conditions, to catch stress before symptoms show. Nodes report to a gateway to your phone.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58460" y="1567280"/>
            <a:ext cx="4134282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Logic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06246" y="2129255"/>
            <a:ext cx="4057650" cy="365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2B3237"/>
                </a:solidFill>
                <a:latin typeface="Inter"/>
                <a:ea typeface="Inter"/>
                <a:cs typeface="Inter"/>
                <a:sym typeface="Inter"/>
              </a:rPr>
              <a:t>VOC (Volatile Organic Compound) sensors read the air that a plant emits. A temperature and humidity sensor provides the ambient baseline, isolating the plant's signal from the environment's.</a:t>
            </a:r>
          </a:p>
          <a:p>
            <a:pPr algn="l">
              <a:lnSpc>
                <a:spcPts val="2660"/>
              </a:lnSpc>
            </a:pP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2B3237"/>
                </a:solidFill>
                <a:latin typeface="Inter"/>
                <a:ea typeface="Inter"/>
                <a:cs typeface="Inter"/>
                <a:sym typeface="Inter"/>
              </a:rPr>
              <a:t>Using solar power to charge the module, CropSentry is able to run fully autonomously and without excessive maintenance. 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3507" y="0"/>
            <a:ext cx="18962212" cy="10287000"/>
          </a:xfrm>
          <a:custGeom>
            <a:avLst/>
            <a:gdLst/>
            <a:ahLst/>
            <a:cxnLst/>
            <a:rect r="r" b="b" t="t" l="l"/>
            <a:pathLst>
              <a:path h="10287000" w="18962212">
                <a:moveTo>
                  <a:pt x="0" y="0"/>
                </a:moveTo>
                <a:lnTo>
                  <a:pt x="18962212" y="0"/>
                </a:lnTo>
                <a:lnTo>
                  <a:pt x="189622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1058" y="1816019"/>
            <a:ext cx="6402034" cy="1715770"/>
            <a:chOff x="0" y="0"/>
            <a:chExt cx="8536046" cy="2287693"/>
          </a:xfrm>
        </p:grpSpPr>
        <p:sp>
          <p:nvSpPr>
            <p:cNvPr name="AutoShape 4" id="4"/>
            <p:cNvSpPr/>
            <p:nvPr/>
          </p:nvSpPr>
          <p:spPr>
            <a:xfrm flipH="true">
              <a:off x="7943" y="292273"/>
              <a:ext cx="1655093" cy="1326614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AutoShape 5" id="5"/>
            <p:cNvSpPr/>
            <p:nvPr/>
          </p:nvSpPr>
          <p:spPr>
            <a:xfrm>
              <a:off x="1663036" y="295063"/>
              <a:ext cx="863177" cy="0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2780656" y="57150"/>
              <a:ext cx="5755390" cy="507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2799" b="true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SHT45</a:t>
              </a:r>
              <a:r>
                <a:rPr lang="en-US" b="true" sz="2799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780656" y="898102"/>
              <a:ext cx="4685362" cy="1389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Secondary temperature and humidity sensor as an ambient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03650" y="7087898"/>
            <a:ext cx="6449442" cy="1715770"/>
            <a:chOff x="0" y="0"/>
            <a:chExt cx="8599256" cy="2287693"/>
          </a:xfrm>
        </p:grpSpPr>
        <p:sp>
          <p:nvSpPr>
            <p:cNvPr name="AutoShape 9" id="9"/>
            <p:cNvSpPr/>
            <p:nvPr/>
          </p:nvSpPr>
          <p:spPr>
            <a:xfrm flipH="true" flipV="true">
              <a:off x="7941" y="762175"/>
              <a:ext cx="1655403" cy="1326228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1663188" y="2098314"/>
              <a:ext cx="863177" cy="0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2843866" y="57150"/>
              <a:ext cx="5755390" cy="507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2799" b="true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Soil Moisture Probe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843866" y="898102"/>
              <a:ext cx="5021773" cy="1389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Detects when water in the soil is insufficient and sends an alert to the user for watering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1816019"/>
            <a:ext cx="6249082" cy="1715770"/>
            <a:chOff x="0" y="0"/>
            <a:chExt cx="8332110" cy="2287693"/>
          </a:xfrm>
        </p:grpSpPr>
        <p:sp>
          <p:nvSpPr>
            <p:cNvPr name="AutoShape 14" id="14"/>
            <p:cNvSpPr/>
            <p:nvPr/>
          </p:nvSpPr>
          <p:spPr>
            <a:xfrm flipH="true" flipV="true">
              <a:off x="6885818" y="290967"/>
              <a:ext cx="1436950" cy="1560261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6013299" y="295063"/>
              <a:ext cx="863177" cy="0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0" y="57150"/>
              <a:ext cx="5755390" cy="507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BME688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953001" y="898102"/>
              <a:ext cx="4802389" cy="1389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sz="20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Checks for VOCs, temperature, humidity, and pressure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7425083"/>
            <a:ext cx="6711383" cy="1715770"/>
            <a:chOff x="0" y="0"/>
            <a:chExt cx="8948510" cy="2287693"/>
          </a:xfrm>
        </p:grpSpPr>
        <p:sp>
          <p:nvSpPr>
            <p:cNvPr name="AutoShape 19" id="19"/>
            <p:cNvSpPr/>
            <p:nvPr/>
          </p:nvSpPr>
          <p:spPr>
            <a:xfrm>
              <a:off x="6421990" y="1687175"/>
              <a:ext cx="863177" cy="0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H="true">
              <a:off x="7285167" y="351036"/>
              <a:ext cx="1655403" cy="1326228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57150"/>
              <a:ext cx="5755390" cy="507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SGP41</a:t>
              </a:r>
              <a:r>
                <a:rPr lang="en-US" b="true" sz="2799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14896" y="898102"/>
              <a:ext cx="4740494" cy="1389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sz="20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Secondary VOC detection system to ensure accurate readings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6574975" y="6406142"/>
            <a:ext cx="2627135" cy="1756578"/>
          </a:xfrm>
          <a:custGeom>
            <a:avLst/>
            <a:gdLst/>
            <a:ahLst/>
            <a:cxnLst/>
            <a:rect r="r" b="b" t="t" l="l"/>
            <a:pathLst>
              <a:path h="1756578" w="2627135">
                <a:moveTo>
                  <a:pt x="0" y="0"/>
                </a:moveTo>
                <a:lnTo>
                  <a:pt x="2627136" y="0"/>
                </a:lnTo>
                <a:lnTo>
                  <a:pt x="2627136" y="1756578"/>
                </a:lnTo>
                <a:lnTo>
                  <a:pt x="0" y="1756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8000"/>
            </a:blip>
            <a:stretch>
              <a:fillRect l="-15168" t="-19466" r="-15880" b="-27352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1499014">
            <a:off x="5886275" y="3282982"/>
            <a:ext cx="2473403" cy="1710435"/>
          </a:xfrm>
          <a:custGeom>
            <a:avLst/>
            <a:gdLst/>
            <a:ahLst/>
            <a:cxnLst/>
            <a:rect r="r" b="b" t="t" l="l"/>
            <a:pathLst>
              <a:path h="1710435" w="2473403">
                <a:moveTo>
                  <a:pt x="0" y="0"/>
                </a:moveTo>
                <a:lnTo>
                  <a:pt x="2473403" y="0"/>
                </a:lnTo>
                <a:lnTo>
                  <a:pt x="2473403" y="1710435"/>
                </a:lnTo>
                <a:lnTo>
                  <a:pt x="0" y="1710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80" t="-21306" r="-7160" b="-26342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1764745">
            <a:off x="9963523" y="2992611"/>
            <a:ext cx="2340648" cy="1667132"/>
          </a:xfrm>
          <a:custGeom>
            <a:avLst/>
            <a:gdLst/>
            <a:ahLst/>
            <a:cxnLst/>
            <a:rect r="r" b="b" t="t" l="l"/>
            <a:pathLst>
              <a:path h="1667132" w="2340648">
                <a:moveTo>
                  <a:pt x="0" y="0"/>
                </a:moveTo>
                <a:lnTo>
                  <a:pt x="2340648" y="0"/>
                </a:lnTo>
                <a:lnTo>
                  <a:pt x="2340648" y="1667132"/>
                </a:lnTo>
                <a:lnTo>
                  <a:pt x="0" y="16671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877" t="-15283" r="-11312" b="-23212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132353" y="5555774"/>
            <a:ext cx="1421724" cy="4265172"/>
          </a:xfrm>
          <a:custGeom>
            <a:avLst/>
            <a:gdLst/>
            <a:ahLst/>
            <a:cxnLst/>
            <a:rect r="r" b="b" t="t" l="l"/>
            <a:pathLst>
              <a:path h="4265172" w="1421724">
                <a:moveTo>
                  <a:pt x="0" y="0"/>
                </a:moveTo>
                <a:lnTo>
                  <a:pt x="1421725" y="0"/>
                </a:lnTo>
                <a:lnTo>
                  <a:pt x="1421725" y="4265173"/>
                </a:lnTo>
                <a:lnTo>
                  <a:pt x="0" y="42651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-5400000">
            <a:off x="-3619500" y="-1470660"/>
            <a:ext cx="7315200" cy="2487168"/>
          </a:xfrm>
          <a:custGeom>
            <a:avLst/>
            <a:gdLst/>
            <a:ahLst/>
            <a:cxnLst/>
            <a:rect r="r" b="b" t="t" l="l"/>
            <a:pathLst>
              <a:path h="2487168" w="7315200">
                <a:moveTo>
                  <a:pt x="0" y="0"/>
                </a:moveTo>
                <a:lnTo>
                  <a:pt x="7315200" y="0"/>
                </a:lnTo>
                <a:lnTo>
                  <a:pt x="7315200" y="2487168"/>
                </a:lnTo>
                <a:lnTo>
                  <a:pt x="0" y="24871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035925" y="592137"/>
            <a:ext cx="12216150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 spc="-195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Hardware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90600" y="-45720"/>
            <a:ext cx="19514271" cy="10586492"/>
          </a:xfrm>
          <a:custGeom>
            <a:avLst/>
            <a:gdLst/>
            <a:ahLst/>
            <a:cxnLst/>
            <a:rect r="r" b="b" t="t" l="l"/>
            <a:pathLst>
              <a:path h="10586492" w="19514271">
                <a:moveTo>
                  <a:pt x="0" y="0"/>
                </a:moveTo>
                <a:lnTo>
                  <a:pt x="19514271" y="0"/>
                </a:lnTo>
                <a:lnTo>
                  <a:pt x="19514271" y="10586492"/>
                </a:lnTo>
                <a:lnTo>
                  <a:pt x="0" y="105864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9099" y="4121225"/>
            <a:ext cx="17065142" cy="3991602"/>
            <a:chOff x="0" y="0"/>
            <a:chExt cx="22753523" cy="5322135"/>
          </a:xfrm>
        </p:grpSpPr>
        <p:sp>
          <p:nvSpPr>
            <p:cNvPr name="AutoShape 4" id="4"/>
            <p:cNvSpPr/>
            <p:nvPr/>
          </p:nvSpPr>
          <p:spPr>
            <a:xfrm>
              <a:off x="0" y="2588013"/>
              <a:ext cx="22753523" cy="0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7756082" y="0"/>
              <a:ext cx="0" cy="3103022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oval" len="lg" w="lg"/>
            </a:ln>
          </p:spPr>
        </p:sp>
        <p:sp>
          <p:nvSpPr>
            <p:cNvPr name="AutoShape 6" id="6"/>
            <p:cNvSpPr/>
            <p:nvPr/>
          </p:nvSpPr>
          <p:spPr>
            <a:xfrm>
              <a:off x="11428040" y="2080013"/>
              <a:ext cx="0" cy="3165922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oval" len="lg" w="lg"/>
            </a:ln>
          </p:spPr>
        </p:sp>
        <p:sp>
          <p:nvSpPr>
            <p:cNvPr name="AutoShape 7" id="7"/>
            <p:cNvSpPr/>
            <p:nvPr/>
          </p:nvSpPr>
          <p:spPr>
            <a:xfrm>
              <a:off x="15207947" y="0"/>
              <a:ext cx="0" cy="3103022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oval" len="lg" w="lg"/>
            </a:ln>
          </p:spPr>
        </p:sp>
        <p:sp>
          <p:nvSpPr>
            <p:cNvPr name="AutoShape 8" id="8"/>
            <p:cNvSpPr/>
            <p:nvPr/>
          </p:nvSpPr>
          <p:spPr>
            <a:xfrm>
              <a:off x="18900332" y="2024711"/>
              <a:ext cx="0" cy="1023009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oval" len="lg" w="lg"/>
            </a:ln>
          </p:spPr>
        </p:sp>
        <p:sp>
          <p:nvSpPr>
            <p:cNvPr name="AutoShape 9" id="9"/>
            <p:cNvSpPr/>
            <p:nvPr/>
          </p:nvSpPr>
          <p:spPr>
            <a:xfrm>
              <a:off x="4050867" y="2080013"/>
              <a:ext cx="0" cy="3242122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oval" len="lg" w="lg"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5400000">
            <a:off x="17718734" y="6020140"/>
            <a:ext cx="151015" cy="84191"/>
          </a:xfrm>
          <a:custGeom>
            <a:avLst/>
            <a:gdLst/>
            <a:ahLst/>
            <a:cxnLst/>
            <a:rect r="r" b="b" t="t" l="l"/>
            <a:pathLst>
              <a:path h="84191" w="151015">
                <a:moveTo>
                  <a:pt x="0" y="0"/>
                </a:moveTo>
                <a:lnTo>
                  <a:pt x="151015" y="0"/>
                </a:lnTo>
                <a:lnTo>
                  <a:pt x="151015" y="84190"/>
                </a:lnTo>
                <a:lnTo>
                  <a:pt x="0" y="84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38225" y="3916162"/>
            <a:ext cx="1800174" cy="1891846"/>
          </a:xfrm>
          <a:custGeom>
            <a:avLst/>
            <a:gdLst/>
            <a:ahLst/>
            <a:cxnLst/>
            <a:rect r="r" b="b" t="t" l="l"/>
            <a:pathLst>
              <a:path h="1891846" w="1800174">
                <a:moveTo>
                  <a:pt x="0" y="0"/>
                </a:moveTo>
                <a:lnTo>
                  <a:pt x="1800174" y="0"/>
                </a:lnTo>
                <a:lnTo>
                  <a:pt x="1800174" y="1891846"/>
                </a:lnTo>
                <a:lnTo>
                  <a:pt x="0" y="18918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029" t="-503" r="-2029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950896" y="6201392"/>
            <a:ext cx="2357140" cy="1784520"/>
          </a:xfrm>
          <a:custGeom>
            <a:avLst/>
            <a:gdLst/>
            <a:ahLst/>
            <a:cxnLst/>
            <a:rect r="r" b="b" t="t" l="l"/>
            <a:pathLst>
              <a:path h="1784520" w="2357140">
                <a:moveTo>
                  <a:pt x="0" y="0"/>
                </a:moveTo>
                <a:lnTo>
                  <a:pt x="2357140" y="0"/>
                </a:lnTo>
                <a:lnTo>
                  <a:pt x="2357140" y="1784520"/>
                </a:lnTo>
                <a:lnTo>
                  <a:pt x="0" y="17845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977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669986" y="4182731"/>
            <a:ext cx="2192692" cy="1660429"/>
          </a:xfrm>
          <a:custGeom>
            <a:avLst/>
            <a:gdLst/>
            <a:ahLst/>
            <a:cxnLst/>
            <a:rect r="r" b="b" t="t" l="l"/>
            <a:pathLst>
              <a:path h="1660429" w="2192692">
                <a:moveTo>
                  <a:pt x="0" y="0"/>
                </a:moveTo>
                <a:lnTo>
                  <a:pt x="2192691" y="0"/>
                </a:lnTo>
                <a:lnTo>
                  <a:pt x="2192691" y="1660429"/>
                </a:lnTo>
                <a:lnTo>
                  <a:pt x="0" y="16604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1038225" y="5681235"/>
            <a:ext cx="0" cy="767257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9430518" y="6262260"/>
            <a:ext cx="2439119" cy="1893315"/>
          </a:xfrm>
          <a:custGeom>
            <a:avLst/>
            <a:gdLst/>
            <a:ahLst/>
            <a:cxnLst/>
            <a:rect r="r" b="b" t="t" l="l"/>
            <a:pathLst>
              <a:path h="1893315" w="2439119">
                <a:moveTo>
                  <a:pt x="0" y="0"/>
                </a:moveTo>
                <a:lnTo>
                  <a:pt x="2439119" y="0"/>
                </a:lnTo>
                <a:lnTo>
                  <a:pt x="2439119" y="1893315"/>
                </a:lnTo>
                <a:lnTo>
                  <a:pt x="0" y="18933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348" t="-24389" r="-9132" b="-29535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692687" y="4083997"/>
            <a:ext cx="1430195" cy="1926128"/>
          </a:xfrm>
          <a:custGeom>
            <a:avLst/>
            <a:gdLst/>
            <a:ahLst/>
            <a:cxnLst/>
            <a:rect r="r" b="b" t="t" l="l"/>
            <a:pathLst>
              <a:path h="1926128" w="1430195">
                <a:moveTo>
                  <a:pt x="0" y="0"/>
                </a:moveTo>
                <a:lnTo>
                  <a:pt x="1430196" y="0"/>
                </a:lnTo>
                <a:lnTo>
                  <a:pt x="1430196" y="1926128"/>
                </a:lnTo>
                <a:lnTo>
                  <a:pt x="0" y="19261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6110" t="-25286" r="-47152" b="-33066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967295" y="6137742"/>
            <a:ext cx="2292005" cy="2292005"/>
          </a:xfrm>
          <a:custGeom>
            <a:avLst/>
            <a:gdLst/>
            <a:ahLst/>
            <a:cxnLst/>
            <a:rect r="r" b="b" t="t" l="l"/>
            <a:pathLst>
              <a:path h="2292005" w="2292005">
                <a:moveTo>
                  <a:pt x="0" y="0"/>
                </a:moveTo>
                <a:lnTo>
                  <a:pt x="2292005" y="0"/>
                </a:lnTo>
                <a:lnTo>
                  <a:pt x="2292005" y="2292006"/>
                </a:lnTo>
                <a:lnTo>
                  <a:pt x="0" y="22920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120898">
            <a:off x="14233712" y="-1028700"/>
            <a:ext cx="6051176" cy="4114800"/>
          </a:xfrm>
          <a:custGeom>
            <a:avLst/>
            <a:gdLst/>
            <a:ahLst/>
            <a:cxnLst/>
            <a:rect r="r" b="b" t="t" l="l"/>
            <a:pathLst>
              <a:path h="4114800" w="6051176">
                <a:moveTo>
                  <a:pt x="0" y="0"/>
                </a:moveTo>
                <a:lnTo>
                  <a:pt x="6051176" y="0"/>
                </a:lnTo>
                <a:lnTo>
                  <a:pt x="60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45470" y="1126381"/>
            <a:ext cx="7986377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-195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Software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4145" y="3204962"/>
            <a:ext cx="218246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31087" y="3268738"/>
            <a:ext cx="218246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59093" y="3261981"/>
            <a:ext cx="218246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81861" y="3261981"/>
            <a:ext cx="218246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84511" y="3268738"/>
            <a:ext cx="218246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96045" y="4217434"/>
            <a:ext cx="16780849" cy="3807763"/>
            <a:chOff x="0" y="0"/>
            <a:chExt cx="22374466" cy="5077017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3019711"/>
              <a:ext cx="3320305" cy="512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2700" b="true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Authentication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0800" y="3936557"/>
              <a:ext cx="2909957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Secure account creation, login, and profile management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3780056" y="28575"/>
              <a:ext cx="3320305" cy="539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799" b="true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Data Logging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780056" y="935735"/>
              <a:ext cx="3268314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IO streams connecting data from server to app continuously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7618473" y="3019711"/>
              <a:ext cx="3320305" cy="539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799" b="true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ML Analysis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7714421" y="3936557"/>
              <a:ext cx="2909957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ML models that evaluate incoming data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1112630" y="294297"/>
              <a:ext cx="3320305" cy="539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799" b="true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RT Dashboard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1136205" y="1087835"/>
              <a:ext cx="3268314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Live visual display of active sensor readings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5163185" y="2824672"/>
              <a:ext cx="3406636" cy="1007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2700" b="true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Push Notifications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5163185" y="3934017"/>
              <a:ext cx="3268314" cy="114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Instant threshold-based alerts sent to devices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8626971" y="312632"/>
              <a:ext cx="3747495" cy="512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2700" b="true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History and Logs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8666262" y="1106170"/>
              <a:ext cx="3268314" cy="114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Stored records and charts to track long-term performance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5306902" y="3268738"/>
            <a:ext cx="218246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06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90600" y="-45720"/>
            <a:ext cx="19514271" cy="10586492"/>
          </a:xfrm>
          <a:custGeom>
            <a:avLst/>
            <a:gdLst/>
            <a:ahLst/>
            <a:cxnLst/>
            <a:rect r="r" b="b" t="t" l="l"/>
            <a:pathLst>
              <a:path h="10586492" w="19514271">
                <a:moveTo>
                  <a:pt x="0" y="0"/>
                </a:moveTo>
                <a:lnTo>
                  <a:pt x="19514271" y="0"/>
                </a:lnTo>
                <a:lnTo>
                  <a:pt x="19514271" y="10586492"/>
                </a:lnTo>
                <a:lnTo>
                  <a:pt x="0" y="1058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7773" y="2658480"/>
            <a:ext cx="15773400" cy="4788027"/>
          </a:xfrm>
          <a:custGeom>
            <a:avLst/>
            <a:gdLst/>
            <a:ahLst/>
            <a:cxnLst/>
            <a:rect r="r" b="b" t="t" l="l"/>
            <a:pathLst>
              <a:path h="4788027" w="15773400">
                <a:moveTo>
                  <a:pt x="0" y="0"/>
                </a:moveTo>
                <a:lnTo>
                  <a:pt x="15773400" y="0"/>
                </a:lnTo>
                <a:lnTo>
                  <a:pt x="15773400" y="4788027"/>
                </a:lnTo>
                <a:lnTo>
                  <a:pt x="0" y="4788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52" t="-6461" r="-1545" b="-6461"/>
            </a:stretch>
          </a:blipFill>
          <a:ln w="9525" cap="sq">
            <a:solidFill>
              <a:srgbClr val="2B3237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16411" y="803910"/>
            <a:ext cx="7750125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-195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55068" y="1085850"/>
            <a:ext cx="6504232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55068" y="1633220"/>
            <a:ext cx="664038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3237"/>
                </a:solidFill>
                <a:latin typeface="Inter"/>
                <a:ea typeface="Inter"/>
                <a:cs typeface="Inter"/>
                <a:sym typeface="Inter"/>
              </a:rPr>
              <a:t>To use multiple methods of data transfer to ensure range while also providing accurate readings to the user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7424940" y="1240472"/>
            <a:ext cx="2462346" cy="2184687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9887286" y="1240472"/>
            <a:ext cx="647383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196340" y="6853639"/>
            <a:ext cx="2896799" cy="3112899"/>
            <a:chOff x="0" y="0"/>
            <a:chExt cx="3862398" cy="415053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864955"/>
              <a:ext cx="1036876" cy="507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626532"/>
              <a:ext cx="3862398" cy="152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Starts by collecting 56 data samples and sending one collection of info via radio signal</a:t>
              </a:r>
            </a:p>
          </p:txBody>
        </p:sp>
        <p:sp>
          <p:nvSpPr>
            <p:cNvPr name="AutoShape 12" id="12"/>
            <p:cNvSpPr/>
            <p:nvPr/>
          </p:nvSpPr>
          <p:spPr>
            <a:xfrm>
              <a:off x="60890" y="816900"/>
              <a:ext cx="0" cy="656783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AutoShape 13" id="13"/>
            <p:cNvSpPr/>
            <p:nvPr/>
          </p:nvSpPr>
          <p:spPr>
            <a:xfrm flipH="true">
              <a:off x="60890" y="9538"/>
              <a:ext cx="918320" cy="807362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951575" y="6853639"/>
            <a:ext cx="2896799" cy="3112899"/>
            <a:chOff x="0" y="0"/>
            <a:chExt cx="3862398" cy="415053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2626532"/>
              <a:ext cx="3862398" cy="152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Server processes information and sends  details to the user’s device through the app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864955"/>
              <a:ext cx="1036876" cy="507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III</a:t>
              </a:r>
            </a:p>
          </p:txBody>
        </p:sp>
        <p:sp>
          <p:nvSpPr>
            <p:cNvPr name="AutoShape 17" id="17"/>
            <p:cNvSpPr/>
            <p:nvPr/>
          </p:nvSpPr>
          <p:spPr>
            <a:xfrm>
              <a:off x="17014" y="816900"/>
              <a:ext cx="0" cy="656783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AutoShape 18" id="18"/>
            <p:cNvSpPr/>
            <p:nvPr/>
          </p:nvSpPr>
          <p:spPr>
            <a:xfrm flipH="true">
              <a:off x="8386" y="9538"/>
              <a:ext cx="918320" cy="807362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324624" y="6853639"/>
            <a:ext cx="2925392" cy="3113362"/>
            <a:chOff x="0" y="0"/>
            <a:chExt cx="3900522" cy="4151149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2627149"/>
              <a:ext cx="3900522" cy="152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The app translates data and provides user-readable information about their plants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865573"/>
              <a:ext cx="1213952" cy="507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IV</a:t>
              </a:r>
            </a:p>
          </p:txBody>
        </p:sp>
        <p:sp>
          <p:nvSpPr>
            <p:cNvPr name="AutoShape 22" id="22"/>
            <p:cNvSpPr/>
            <p:nvPr/>
          </p:nvSpPr>
          <p:spPr>
            <a:xfrm>
              <a:off x="24971" y="817518"/>
              <a:ext cx="0" cy="656783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AutoShape 23" id="23"/>
            <p:cNvSpPr/>
            <p:nvPr/>
          </p:nvSpPr>
          <p:spPr>
            <a:xfrm flipH="true">
              <a:off x="9818" y="10155"/>
              <a:ext cx="1075149" cy="807362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573958" y="6853564"/>
            <a:ext cx="2896799" cy="3112973"/>
            <a:chOff x="0" y="0"/>
            <a:chExt cx="3862398" cy="4150631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1864955"/>
              <a:ext cx="1036876" cy="507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II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2626631"/>
              <a:ext cx="3862398" cy="152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Takes radio signal and processes data through WiFi to be received through a server</a:t>
              </a:r>
            </a:p>
          </p:txBody>
        </p:sp>
        <p:sp>
          <p:nvSpPr>
            <p:cNvPr name="AutoShape 27" id="27"/>
            <p:cNvSpPr/>
            <p:nvPr/>
          </p:nvSpPr>
          <p:spPr>
            <a:xfrm>
              <a:off x="60890" y="816900"/>
              <a:ext cx="0" cy="656783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AutoShape 28" id="28"/>
            <p:cNvSpPr/>
            <p:nvPr/>
          </p:nvSpPr>
          <p:spPr>
            <a:xfrm flipH="true">
              <a:off x="60890" y="9538"/>
              <a:ext cx="918320" cy="807362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4726266" y="6853267"/>
            <a:ext cx="3382592" cy="3113734"/>
            <a:chOff x="0" y="0"/>
            <a:chExt cx="4510122" cy="4151645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2627645"/>
              <a:ext cx="4510122" cy="152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The user can virtually interact with their plant and get a full diagnosis regarding diseases and health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1866068"/>
              <a:ext cx="1403677" cy="507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B3237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IV</a:t>
              </a:r>
            </a:p>
          </p:txBody>
        </p:sp>
        <p:sp>
          <p:nvSpPr>
            <p:cNvPr name="AutoShape 32" id="32"/>
            <p:cNvSpPr/>
            <p:nvPr/>
          </p:nvSpPr>
          <p:spPr>
            <a:xfrm>
              <a:off x="28874" y="818013"/>
              <a:ext cx="0" cy="656783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AutoShape 33" id="33"/>
            <p:cNvSpPr/>
            <p:nvPr/>
          </p:nvSpPr>
          <p:spPr>
            <a:xfrm flipH="true">
              <a:off x="11352" y="10651"/>
              <a:ext cx="1243181" cy="807362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101" y="597947"/>
            <a:ext cx="16757798" cy="9091105"/>
          </a:xfrm>
          <a:custGeom>
            <a:avLst/>
            <a:gdLst/>
            <a:ahLst/>
            <a:cxnLst/>
            <a:rect r="r" b="b" t="t" l="l"/>
            <a:pathLst>
              <a:path h="9091105" w="16757798">
                <a:moveTo>
                  <a:pt x="0" y="0"/>
                </a:moveTo>
                <a:lnTo>
                  <a:pt x="16757798" y="0"/>
                </a:lnTo>
                <a:lnTo>
                  <a:pt x="16757798" y="9091106"/>
                </a:lnTo>
                <a:lnTo>
                  <a:pt x="0" y="90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42445">
            <a:off x="-851461" y="355307"/>
            <a:ext cx="4785581" cy="4043822"/>
          </a:xfrm>
          <a:custGeom>
            <a:avLst/>
            <a:gdLst/>
            <a:ahLst/>
            <a:cxnLst/>
            <a:rect r="r" b="b" t="t" l="l"/>
            <a:pathLst>
              <a:path h="4043822" w="4785581">
                <a:moveTo>
                  <a:pt x="0" y="0"/>
                </a:moveTo>
                <a:lnTo>
                  <a:pt x="4785581" y="0"/>
                </a:lnTo>
                <a:lnTo>
                  <a:pt x="4785581" y="4043822"/>
                </a:lnTo>
                <a:lnTo>
                  <a:pt x="0" y="404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12" t="0" r="-281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18814" y="759777"/>
            <a:ext cx="3341571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-195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Potential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721801"/>
            <a:ext cx="16921800" cy="6565199"/>
            <a:chOff x="0" y="0"/>
            <a:chExt cx="22562400" cy="8753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351610" y="1899321"/>
              <a:ext cx="16110482" cy="6854278"/>
            </a:xfrm>
            <a:custGeom>
              <a:avLst/>
              <a:gdLst/>
              <a:ahLst/>
              <a:cxnLst/>
              <a:rect r="r" b="b" t="t" l="l"/>
              <a:pathLst>
                <a:path h="6854278" w="16110482">
                  <a:moveTo>
                    <a:pt x="0" y="0"/>
                  </a:moveTo>
                  <a:lnTo>
                    <a:pt x="16110481" y="0"/>
                  </a:lnTo>
                  <a:lnTo>
                    <a:pt x="16110481" y="6854277"/>
                  </a:lnTo>
                  <a:lnTo>
                    <a:pt x="0" y="6854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6439741" y="2617514"/>
              <a:ext cx="1655403" cy="1326228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H="true">
              <a:off x="14443699" y="2700615"/>
              <a:ext cx="1655403" cy="1326228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AutoShape 9" id="9"/>
            <p:cNvSpPr/>
            <p:nvPr/>
          </p:nvSpPr>
          <p:spPr>
            <a:xfrm flipH="true" flipV="true">
              <a:off x="8611084" y="387265"/>
              <a:ext cx="1655403" cy="1326228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flipH="true">
              <a:off x="12526355" y="387265"/>
              <a:ext cx="1655403" cy="1326228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4184323" y="2620111"/>
              <a:ext cx="2222808" cy="0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16099101" y="2703212"/>
              <a:ext cx="2276058" cy="0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8095144" y="387265"/>
              <a:ext cx="515941" cy="2597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14181758" y="389862"/>
              <a:ext cx="2276058" cy="0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3816702" y="-9525"/>
              <a:ext cx="4022140" cy="1253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9"/>
                </a:lnSpc>
              </a:pPr>
              <a:r>
                <a:rPr lang="en-US" sz="1999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Continuous monitoring replaces manual scouting.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220723"/>
              <a:ext cx="4022140" cy="1253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9"/>
                </a:lnSpc>
              </a:pPr>
              <a:r>
                <a:rPr lang="en-US" sz="1999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One gateway serves many nodes across a field.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711816" y="-6928"/>
              <a:ext cx="4022140" cy="834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9"/>
                </a:lnSpc>
              </a:pPr>
              <a:r>
                <a:rPr lang="en-US" sz="1999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Detects stress before symptoms are visible.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8540260" y="2223320"/>
              <a:ext cx="4022140" cy="834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9"/>
                </a:lnSpc>
              </a:pPr>
              <a:r>
                <a:rPr lang="en-US" sz="1999">
                  <a:solidFill>
                    <a:srgbClr val="2B3237"/>
                  </a:solidFill>
                  <a:latin typeface="Inter"/>
                  <a:ea typeface="Inter"/>
                  <a:cs typeface="Inter"/>
                  <a:sym typeface="Inter"/>
                </a:rPr>
                <a:t>Runs unattended on solar for a full season.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101" y="597947"/>
            <a:ext cx="16757798" cy="9091105"/>
          </a:xfrm>
          <a:custGeom>
            <a:avLst/>
            <a:gdLst/>
            <a:ahLst/>
            <a:cxnLst/>
            <a:rect r="r" b="b" t="t" l="l"/>
            <a:pathLst>
              <a:path h="9091105" w="16757798">
                <a:moveTo>
                  <a:pt x="0" y="0"/>
                </a:moveTo>
                <a:lnTo>
                  <a:pt x="16757798" y="0"/>
                </a:lnTo>
                <a:lnTo>
                  <a:pt x="16757798" y="9091106"/>
                </a:lnTo>
                <a:lnTo>
                  <a:pt x="0" y="90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7088615" y="-309613"/>
            <a:ext cx="16834345" cy="9897192"/>
          </a:xfrm>
          <a:custGeom>
            <a:avLst/>
            <a:gdLst/>
            <a:ahLst/>
            <a:cxnLst/>
            <a:rect r="r" b="b" t="t" l="l"/>
            <a:pathLst>
              <a:path h="9897192" w="16834345">
                <a:moveTo>
                  <a:pt x="16834344" y="0"/>
                </a:moveTo>
                <a:lnTo>
                  <a:pt x="0" y="0"/>
                </a:lnTo>
                <a:lnTo>
                  <a:pt x="0" y="9897192"/>
                </a:lnTo>
                <a:lnTo>
                  <a:pt x="16834344" y="9897192"/>
                </a:lnTo>
                <a:lnTo>
                  <a:pt x="168343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30633" y="2579145"/>
            <a:ext cx="1226734" cy="2303726"/>
          </a:xfrm>
          <a:custGeom>
            <a:avLst/>
            <a:gdLst/>
            <a:ahLst/>
            <a:cxnLst/>
            <a:rect r="r" b="b" t="t" l="l"/>
            <a:pathLst>
              <a:path h="2303726" w="1226734">
                <a:moveTo>
                  <a:pt x="0" y="0"/>
                </a:moveTo>
                <a:lnTo>
                  <a:pt x="1226734" y="0"/>
                </a:lnTo>
                <a:lnTo>
                  <a:pt x="1226734" y="2303726"/>
                </a:lnTo>
                <a:lnTo>
                  <a:pt x="0" y="2303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3200" y="6477187"/>
            <a:ext cx="149119" cy="223819"/>
          </a:xfrm>
          <a:custGeom>
            <a:avLst/>
            <a:gdLst/>
            <a:ahLst/>
            <a:cxnLst/>
            <a:rect r="r" b="b" t="t" l="l"/>
            <a:pathLst>
              <a:path h="223819" w="149119">
                <a:moveTo>
                  <a:pt x="0" y="0"/>
                </a:moveTo>
                <a:lnTo>
                  <a:pt x="149119" y="0"/>
                </a:lnTo>
                <a:lnTo>
                  <a:pt x="149119" y="223819"/>
                </a:lnTo>
                <a:lnTo>
                  <a:pt x="0" y="2238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235708"/>
            <a:ext cx="515021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 spc="-225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Q/A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632512"/>
            <a:ext cx="622119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B3237"/>
                </a:solidFill>
                <a:latin typeface="Inter"/>
                <a:ea typeface="Inter"/>
                <a:cs typeface="Inter"/>
                <a:sym typeface="Inter"/>
              </a:rPr>
              <a:t>Thank you for being a part of this presentation! Any questions are appreciated.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90478" y="597947"/>
            <a:ext cx="16757798" cy="9091105"/>
          </a:xfrm>
          <a:custGeom>
            <a:avLst/>
            <a:gdLst/>
            <a:ahLst/>
            <a:cxnLst/>
            <a:rect r="r" b="b" t="t" l="l"/>
            <a:pathLst>
              <a:path h="9091105" w="16757798">
                <a:moveTo>
                  <a:pt x="0" y="0"/>
                </a:moveTo>
                <a:lnTo>
                  <a:pt x="16757798" y="0"/>
                </a:lnTo>
                <a:lnTo>
                  <a:pt x="16757798" y="9091106"/>
                </a:lnTo>
                <a:lnTo>
                  <a:pt x="0" y="90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572349">
            <a:off x="14552173" y="-1672194"/>
            <a:ext cx="4785581" cy="3828465"/>
          </a:xfrm>
          <a:custGeom>
            <a:avLst/>
            <a:gdLst/>
            <a:ahLst/>
            <a:cxnLst/>
            <a:rect r="r" b="b" t="t" l="l"/>
            <a:pathLst>
              <a:path h="3828465" w="4785581">
                <a:moveTo>
                  <a:pt x="0" y="0"/>
                </a:moveTo>
                <a:lnTo>
                  <a:pt x="4785581" y="0"/>
                </a:lnTo>
                <a:lnTo>
                  <a:pt x="4785581" y="3828464"/>
                </a:lnTo>
                <a:lnTo>
                  <a:pt x="0" y="3828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21038" y="819059"/>
            <a:ext cx="4445923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-195" b="true">
                <a:solidFill>
                  <a:srgbClr val="2B32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References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3037" y="3255123"/>
            <a:ext cx="15601927" cy="544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B32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Betts, A. K., Sisson, A. J., Ahumada, D. H., Allen, T. W., Anderson, N. R., Bergstrom, G. C., Bish, M., Bissonnette, K. M., Broderick, K. C., Byamukama, E., Chilvers, M. I., Collins, A. A., Duffeck, M. R., Esker, P. D., Faske, T. R., Friskop, A. J., Harbach, C., Heiniger, R. W., Isakeit, T., … Zeng, Y. (2026). Corn yield loss estimates due to diseases in the United States and Ontario, Canada, from 2020 to 2023. Plant Health Progress, 27(2), 257–268.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B32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and Agriculture Organization of the United Nations. (2019, March 4). New standards to curb the global spread of plant pests and diseases.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B32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and Agriculture Organization of the United Nations. (2026, July 21). The hidden health crisis: How plant diseases threaten global food security.</a:t>
            </a:r>
          </a:p>
          <a:p>
            <a:pPr algn="ctr">
              <a:lnSpc>
                <a:spcPts val="3359"/>
              </a:lnSpc>
            </a:pPr>
          </a:p>
        </p:txBody>
      </p:sp>
    </p:spTree>
  </p:cSld>
  <p:clrMapOvr>
    <a:masterClrMapping/>
  </p:clrMapOvr>
  <p:transition spd="fast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DAHT_QQdOkc</dc:identifier>
  <dcterms:modified xsi:type="dcterms:W3CDTF">2011-08-01T06:04:30Z</dcterms:modified>
  <cp:revision>1</cp:revision>
  <dc:title>CropSentry MGA Presentation</dc:title>
</cp:coreProperties>
</file>