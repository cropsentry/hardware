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Inter Semi-Bold" charset="1" panose="02000503000000020004"/>
      <p:regular r:id="rId12"/>
    </p:embeddedFont>
    <p:embeddedFont>
      <p:font typeface="Inter" charset="1" panose="02000503000000020004"/>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B3237"/>
        </a:solidFill>
      </p:bgPr>
    </p:bg>
    <p:spTree>
      <p:nvGrpSpPr>
        <p:cNvPr id="1" name=""/>
        <p:cNvGrpSpPr/>
        <p:nvPr/>
      </p:nvGrpSpPr>
      <p:grpSpPr>
        <a:xfrm>
          <a:off x="0" y="0"/>
          <a:ext cx="0" cy="0"/>
          <a:chOff x="0" y="0"/>
          <a:chExt cx="0" cy="0"/>
        </a:xfrm>
      </p:grpSpPr>
      <p:sp>
        <p:nvSpPr>
          <p:cNvPr name="Freeform 2" id="2"/>
          <p:cNvSpPr/>
          <p:nvPr/>
        </p:nvSpPr>
        <p:spPr>
          <a:xfrm flipH="false" flipV="false" rot="0">
            <a:off x="742950" y="-6825695"/>
            <a:ext cx="9620681" cy="18575732"/>
          </a:xfrm>
          <a:custGeom>
            <a:avLst/>
            <a:gdLst/>
            <a:ahLst/>
            <a:cxnLst/>
            <a:rect r="r" b="b" t="t" l="l"/>
            <a:pathLst>
              <a:path h="18575732" w="9620681">
                <a:moveTo>
                  <a:pt x="0" y="0"/>
                </a:moveTo>
                <a:lnTo>
                  <a:pt x="9620681" y="0"/>
                </a:lnTo>
                <a:lnTo>
                  <a:pt x="9620681" y="18575732"/>
                </a:lnTo>
                <a:lnTo>
                  <a:pt x="0" y="18575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8269905" y="-4794765"/>
            <a:ext cx="9249642" cy="7722901"/>
          </a:xfrm>
          <a:prstGeom prst="line">
            <a:avLst/>
          </a:prstGeom>
          <a:ln cap="flat" w="9525">
            <a:solidFill>
              <a:srgbClr val="FFFFFF"/>
            </a:solidFill>
            <a:prstDash val="solid"/>
            <a:headEnd type="none" len="sm" w="sm"/>
            <a:tailEnd type="none" len="sm" w="sm"/>
          </a:ln>
        </p:spPr>
      </p:sp>
      <p:sp>
        <p:nvSpPr>
          <p:cNvPr name="AutoShape 4" id="4"/>
          <p:cNvSpPr/>
          <p:nvPr/>
        </p:nvSpPr>
        <p:spPr>
          <a:xfrm flipV="true">
            <a:off x="-7015967" y="7888587"/>
            <a:ext cx="9249642" cy="7722901"/>
          </a:xfrm>
          <a:prstGeom prst="line">
            <a:avLst/>
          </a:prstGeom>
          <a:ln cap="flat" w="9525">
            <a:solidFill>
              <a:srgbClr val="FFFFFF"/>
            </a:solidFill>
            <a:prstDash val="solid"/>
            <a:headEnd type="none" len="sm" w="sm"/>
            <a:tailEnd type="none" len="sm" w="sm"/>
          </a:ln>
        </p:spPr>
      </p:sp>
      <p:sp>
        <p:nvSpPr>
          <p:cNvPr name="Freeform 5" id="5"/>
          <p:cNvSpPr/>
          <p:nvPr/>
        </p:nvSpPr>
        <p:spPr>
          <a:xfrm flipH="false" flipV="false" rot="-708731">
            <a:off x="2366900" y="4412561"/>
            <a:ext cx="1549010" cy="1461878"/>
          </a:xfrm>
          <a:custGeom>
            <a:avLst/>
            <a:gdLst/>
            <a:ahLst/>
            <a:cxnLst/>
            <a:rect r="r" b="b" t="t" l="l"/>
            <a:pathLst>
              <a:path h="1461878" w="1549010">
                <a:moveTo>
                  <a:pt x="0" y="0"/>
                </a:moveTo>
                <a:lnTo>
                  <a:pt x="1549009" y="0"/>
                </a:lnTo>
                <a:lnTo>
                  <a:pt x="1549009" y="1461878"/>
                </a:lnTo>
                <a:lnTo>
                  <a:pt x="0" y="1461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1395771" y="3774245"/>
            <a:ext cx="5863529" cy="3162300"/>
          </a:xfrm>
          <a:prstGeom prst="rect">
            <a:avLst/>
          </a:prstGeom>
        </p:spPr>
        <p:txBody>
          <a:bodyPr anchor="t" rtlCol="false" tIns="0" lIns="0" bIns="0" rIns="0">
            <a:spAutoFit/>
          </a:bodyPr>
          <a:lstStyle/>
          <a:p>
            <a:pPr algn="l">
              <a:lnSpc>
                <a:spcPts val="8250"/>
              </a:lnSpc>
            </a:pPr>
            <a:r>
              <a:rPr lang="en-US" sz="7500" spc="-225" b="true">
                <a:solidFill>
                  <a:srgbClr val="FFFFFF"/>
                </a:solidFill>
                <a:latin typeface="Inter Semi-Bold"/>
                <a:ea typeface="Inter Semi-Bold"/>
                <a:cs typeface="Inter Semi-Bold"/>
                <a:sym typeface="Inter Semi-Bold"/>
              </a:rPr>
              <a:t>CropSentry</a:t>
            </a:r>
          </a:p>
          <a:p>
            <a:pPr algn="l">
              <a:lnSpc>
                <a:spcPts val="8250"/>
              </a:lnSpc>
            </a:pPr>
            <a:r>
              <a:rPr lang="en-US" sz="7500" spc="-225" b="true">
                <a:solidFill>
                  <a:srgbClr val="FFFFFF"/>
                </a:solidFill>
                <a:latin typeface="Inter Semi-Bold"/>
                <a:ea typeface="Inter Semi-Bold"/>
                <a:cs typeface="Inter Semi-Bold"/>
                <a:sym typeface="Inter Semi-Bold"/>
              </a:rPr>
              <a:t>Update</a:t>
            </a:r>
          </a:p>
          <a:p>
            <a:pPr algn="l">
              <a:lnSpc>
                <a:spcPts val="8250"/>
              </a:lnSpc>
            </a:pPr>
            <a:r>
              <a:rPr lang="en-US" sz="7500" spc="-225" b="true">
                <a:solidFill>
                  <a:srgbClr val="FFFFFF"/>
                </a:solidFill>
                <a:latin typeface="Inter Semi-Bold"/>
                <a:ea typeface="Inter Semi-Bold"/>
                <a:cs typeface="Inter Semi-Bold"/>
                <a:sym typeface="Inter Semi-Bold"/>
              </a:rPr>
              <a:t>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737664" y="-164473"/>
            <a:ext cx="22453743" cy="12181156"/>
          </a:xfrm>
          <a:custGeom>
            <a:avLst/>
            <a:gdLst/>
            <a:ahLst/>
            <a:cxnLst/>
            <a:rect r="r" b="b" t="t" l="l"/>
            <a:pathLst>
              <a:path h="12181156" w="22453743">
                <a:moveTo>
                  <a:pt x="0" y="0"/>
                </a:moveTo>
                <a:lnTo>
                  <a:pt x="22453744" y="0"/>
                </a:lnTo>
                <a:lnTo>
                  <a:pt x="22453744" y="12181156"/>
                </a:lnTo>
                <a:lnTo>
                  <a:pt x="0" y="12181156"/>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a:off x="2436919" y="9993853"/>
            <a:ext cx="10519561" cy="0"/>
          </a:xfrm>
          <a:prstGeom prst="line">
            <a:avLst/>
          </a:prstGeom>
          <a:ln cap="flat" w="38100">
            <a:solidFill>
              <a:srgbClr val="2B3237"/>
            </a:solidFill>
            <a:prstDash val="solid"/>
            <a:headEnd type="none" len="sm" w="sm"/>
            <a:tailEnd type="none" len="sm" w="sm"/>
          </a:ln>
        </p:spPr>
      </p:sp>
      <p:sp>
        <p:nvSpPr>
          <p:cNvPr name="Freeform 4" id="4"/>
          <p:cNvSpPr/>
          <p:nvPr/>
        </p:nvSpPr>
        <p:spPr>
          <a:xfrm flipH="false" flipV="false" rot="0">
            <a:off x="13475162" y="-61365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033685" y="1986516"/>
            <a:ext cx="13084230" cy="4375039"/>
          </a:xfrm>
          <a:custGeom>
            <a:avLst/>
            <a:gdLst/>
            <a:ahLst/>
            <a:cxnLst/>
            <a:rect r="r" b="b" t="t" l="l"/>
            <a:pathLst>
              <a:path h="4375039" w="13084230">
                <a:moveTo>
                  <a:pt x="0" y="0"/>
                </a:moveTo>
                <a:lnTo>
                  <a:pt x="13084230" y="0"/>
                </a:lnTo>
                <a:lnTo>
                  <a:pt x="13084230" y="4375039"/>
                </a:lnTo>
                <a:lnTo>
                  <a:pt x="0" y="4375039"/>
                </a:lnTo>
                <a:lnTo>
                  <a:pt x="0" y="0"/>
                </a:lnTo>
                <a:close/>
              </a:path>
            </a:pathLst>
          </a:custGeom>
          <a:blipFill>
            <a:blip r:embed="rId6"/>
            <a:stretch>
              <a:fillRect l="0" t="0" r="0" b="0"/>
            </a:stretch>
          </a:blipFill>
        </p:spPr>
      </p:sp>
      <p:sp>
        <p:nvSpPr>
          <p:cNvPr name="TextBox 6" id="6"/>
          <p:cNvSpPr txBox="true"/>
          <p:nvPr/>
        </p:nvSpPr>
        <p:spPr>
          <a:xfrm rot="0">
            <a:off x="4812838" y="1133756"/>
            <a:ext cx="8662324" cy="930275"/>
          </a:xfrm>
          <a:prstGeom prst="rect">
            <a:avLst/>
          </a:prstGeom>
        </p:spPr>
        <p:txBody>
          <a:bodyPr anchor="t" rtlCol="false" tIns="0" lIns="0" bIns="0" rIns="0">
            <a:spAutoFit/>
          </a:bodyPr>
          <a:lstStyle/>
          <a:p>
            <a:pPr algn="ctr">
              <a:lnSpc>
                <a:spcPts val="7150"/>
              </a:lnSpc>
            </a:pPr>
            <a:r>
              <a:rPr lang="en-US" b="true" sz="6500" spc="-195">
                <a:solidFill>
                  <a:srgbClr val="2B3237"/>
                </a:solidFill>
                <a:latin typeface="Inter Semi-Bold"/>
                <a:ea typeface="Inter Semi-Bold"/>
                <a:cs typeface="Inter Semi-Bold"/>
                <a:sym typeface="Inter Semi-Bold"/>
              </a:rPr>
              <a:t>General Update</a:t>
            </a:r>
          </a:p>
        </p:txBody>
      </p:sp>
      <p:grpSp>
        <p:nvGrpSpPr>
          <p:cNvPr name="Group 7" id="7"/>
          <p:cNvGrpSpPr/>
          <p:nvPr/>
        </p:nvGrpSpPr>
        <p:grpSpPr>
          <a:xfrm rot="0">
            <a:off x="1892300" y="6483938"/>
            <a:ext cx="15367000" cy="2609215"/>
            <a:chOff x="0" y="0"/>
            <a:chExt cx="20489333" cy="3478953"/>
          </a:xfrm>
        </p:grpSpPr>
        <p:sp>
          <p:nvSpPr>
            <p:cNvPr name="TextBox 8" id="8"/>
            <p:cNvSpPr txBox="true"/>
            <p:nvPr/>
          </p:nvSpPr>
          <p:spPr>
            <a:xfrm rot="0">
              <a:off x="0" y="57150"/>
              <a:ext cx="5774883" cy="507577"/>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Where we are</a:t>
              </a:r>
            </a:p>
          </p:txBody>
        </p:sp>
        <p:sp>
          <p:nvSpPr>
            <p:cNvPr name="TextBox 9" id="9"/>
            <p:cNvSpPr txBox="true"/>
            <p:nvPr/>
          </p:nvSpPr>
          <p:spPr>
            <a:xfrm rot="0">
              <a:off x="0" y="907627"/>
              <a:ext cx="5418911" cy="2196253"/>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Currently, we are moving into the final design and moving towards the testing phase for our project. We are planning to complete it in the near future.</a:t>
              </a:r>
            </a:p>
          </p:txBody>
        </p:sp>
        <p:sp>
          <p:nvSpPr>
            <p:cNvPr name="TextBox 10" id="10"/>
            <p:cNvSpPr txBox="true"/>
            <p:nvPr/>
          </p:nvSpPr>
          <p:spPr>
            <a:xfrm rot="0">
              <a:off x="7525675" y="57150"/>
              <a:ext cx="5512375" cy="507577"/>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What we’ve done</a:t>
              </a:r>
            </a:p>
          </p:txBody>
        </p:sp>
        <p:sp>
          <p:nvSpPr>
            <p:cNvPr name="TextBox 11" id="11"/>
            <p:cNvSpPr txBox="true"/>
            <p:nvPr/>
          </p:nvSpPr>
          <p:spPr>
            <a:xfrm rot="0">
              <a:off x="7456057" y="838200"/>
              <a:ext cx="5410200" cy="2640753"/>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So far, we have completed the AI model for our machine learning design and are integrating it into our system. We have also put extensive effort into completing our hardware and software designs.</a:t>
              </a:r>
            </a:p>
          </p:txBody>
        </p:sp>
        <p:sp>
          <p:nvSpPr>
            <p:cNvPr name="TextBox 12" id="12"/>
            <p:cNvSpPr txBox="true"/>
            <p:nvPr/>
          </p:nvSpPr>
          <p:spPr>
            <a:xfrm rot="0">
              <a:off x="14714450" y="57150"/>
              <a:ext cx="5774883" cy="507577"/>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Where we plan to be</a:t>
              </a:r>
            </a:p>
          </p:txBody>
        </p:sp>
        <p:sp>
          <p:nvSpPr>
            <p:cNvPr name="TextBox 13" id="13"/>
            <p:cNvSpPr txBox="true"/>
            <p:nvPr/>
          </p:nvSpPr>
          <p:spPr>
            <a:xfrm rot="0">
              <a:off x="14752240" y="838200"/>
              <a:ext cx="5418911" cy="2196253"/>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Looking forward, we want to submit to the Congressional App Challenge (6 days for final submission) as well as doing heavy backend integration with all of our fields of IoT.</a:t>
              </a:r>
            </a:p>
          </p:txBody>
        </p:sp>
      </p:grpSp>
    </p:spTree>
  </p:cSld>
  <p:clrMapOvr>
    <a:masterClrMapping/>
  </p:clrMapOvr>
  <p:transition spd="slow">
    <p:cover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sp>
        <p:nvSpPr>
          <p:cNvPr name="Freeform 2" id="2"/>
          <p:cNvSpPr/>
          <p:nvPr/>
        </p:nvSpPr>
        <p:spPr>
          <a:xfrm flipH="false" flipV="false" rot="0">
            <a:off x="-677855" y="-164473"/>
            <a:ext cx="22453743" cy="12181156"/>
          </a:xfrm>
          <a:custGeom>
            <a:avLst/>
            <a:gdLst/>
            <a:ahLst/>
            <a:cxnLst/>
            <a:rect r="r" b="b" t="t" l="l"/>
            <a:pathLst>
              <a:path h="12181156" w="22453743">
                <a:moveTo>
                  <a:pt x="0" y="0"/>
                </a:moveTo>
                <a:lnTo>
                  <a:pt x="22453743" y="0"/>
                </a:lnTo>
                <a:lnTo>
                  <a:pt x="22453743" y="12181156"/>
                </a:lnTo>
                <a:lnTo>
                  <a:pt x="0" y="12181156"/>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3322237" y="8298474"/>
            <a:ext cx="8292522" cy="3856023"/>
          </a:xfrm>
          <a:custGeom>
            <a:avLst/>
            <a:gdLst/>
            <a:ahLst/>
            <a:cxnLst/>
            <a:rect r="r" b="b" t="t" l="l"/>
            <a:pathLst>
              <a:path h="3856023" w="8292522">
                <a:moveTo>
                  <a:pt x="0" y="0"/>
                </a:moveTo>
                <a:lnTo>
                  <a:pt x="8292523" y="0"/>
                </a:lnTo>
                <a:lnTo>
                  <a:pt x="8292523" y="3856023"/>
                </a:lnTo>
                <a:lnTo>
                  <a:pt x="0" y="3856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805735" y="2535998"/>
            <a:ext cx="5310278" cy="7217597"/>
          </a:xfrm>
          <a:custGeom>
            <a:avLst/>
            <a:gdLst/>
            <a:ahLst/>
            <a:cxnLst/>
            <a:rect r="r" b="b" t="t" l="l"/>
            <a:pathLst>
              <a:path h="7217597" w="5310278">
                <a:moveTo>
                  <a:pt x="0" y="0"/>
                </a:moveTo>
                <a:lnTo>
                  <a:pt x="5310279" y="0"/>
                </a:lnTo>
                <a:lnTo>
                  <a:pt x="5310279" y="7217597"/>
                </a:lnTo>
                <a:lnTo>
                  <a:pt x="0" y="7217597"/>
                </a:lnTo>
                <a:lnTo>
                  <a:pt x="0" y="0"/>
                </a:lnTo>
                <a:close/>
              </a:path>
            </a:pathLst>
          </a:custGeom>
          <a:blipFill>
            <a:blip r:embed="rId6"/>
            <a:stretch>
              <a:fillRect l="-12088" t="0" r="-9670" b="0"/>
            </a:stretch>
          </a:blipFill>
          <a:ln w="28575" cap="rnd">
            <a:solidFill>
              <a:srgbClr val="000000"/>
            </a:solidFill>
            <a:prstDash val="solid"/>
            <a:round/>
          </a:ln>
        </p:spPr>
      </p:sp>
      <p:sp>
        <p:nvSpPr>
          <p:cNvPr name="Freeform 5" id="5"/>
          <p:cNvSpPr/>
          <p:nvPr/>
        </p:nvSpPr>
        <p:spPr>
          <a:xfrm flipH="false" flipV="false" rot="0">
            <a:off x="354188" y="1453189"/>
            <a:ext cx="5795836" cy="2165618"/>
          </a:xfrm>
          <a:custGeom>
            <a:avLst/>
            <a:gdLst/>
            <a:ahLst/>
            <a:cxnLst/>
            <a:rect r="r" b="b" t="t" l="l"/>
            <a:pathLst>
              <a:path h="2165618" w="5795836">
                <a:moveTo>
                  <a:pt x="0" y="0"/>
                </a:moveTo>
                <a:lnTo>
                  <a:pt x="5795836" y="0"/>
                </a:lnTo>
                <a:lnTo>
                  <a:pt x="5795836" y="2165618"/>
                </a:lnTo>
                <a:lnTo>
                  <a:pt x="0" y="2165618"/>
                </a:lnTo>
                <a:lnTo>
                  <a:pt x="0" y="0"/>
                </a:lnTo>
                <a:close/>
              </a:path>
            </a:pathLst>
          </a:custGeom>
          <a:blipFill>
            <a:blip r:embed="rId7"/>
            <a:stretch>
              <a:fillRect l="-22860" t="-128101" r="0" b="-210315"/>
            </a:stretch>
          </a:blipFill>
          <a:ln w="28575" cap="rnd">
            <a:solidFill>
              <a:srgbClr val="000000"/>
            </a:solidFill>
            <a:prstDash val="solid"/>
            <a:round/>
          </a:ln>
        </p:spPr>
      </p:sp>
      <p:sp>
        <p:nvSpPr>
          <p:cNvPr name="Freeform 6" id="6"/>
          <p:cNvSpPr/>
          <p:nvPr/>
        </p:nvSpPr>
        <p:spPr>
          <a:xfrm flipH="false" flipV="false" rot="0">
            <a:off x="354188" y="3896371"/>
            <a:ext cx="5795836" cy="4124538"/>
          </a:xfrm>
          <a:custGeom>
            <a:avLst/>
            <a:gdLst/>
            <a:ahLst/>
            <a:cxnLst/>
            <a:rect r="r" b="b" t="t" l="l"/>
            <a:pathLst>
              <a:path h="4124538" w="5795836">
                <a:moveTo>
                  <a:pt x="0" y="0"/>
                </a:moveTo>
                <a:lnTo>
                  <a:pt x="5795836" y="0"/>
                </a:lnTo>
                <a:lnTo>
                  <a:pt x="5795836" y="4124538"/>
                </a:lnTo>
                <a:lnTo>
                  <a:pt x="0" y="4124538"/>
                </a:lnTo>
                <a:lnTo>
                  <a:pt x="0" y="0"/>
                </a:lnTo>
                <a:close/>
              </a:path>
            </a:pathLst>
          </a:custGeom>
          <a:blipFill>
            <a:blip r:embed="rId8"/>
            <a:stretch>
              <a:fillRect l="-8187" t="0" r="-15506" b="0"/>
            </a:stretch>
          </a:blipFill>
          <a:ln w="28575" cap="rnd">
            <a:solidFill>
              <a:srgbClr val="000000"/>
            </a:solidFill>
            <a:prstDash val="solid"/>
            <a:round/>
          </a:ln>
        </p:spPr>
      </p:sp>
      <p:sp>
        <p:nvSpPr>
          <p:cNvPr name="TextBox 7" id="7"/>
          <p:cNvSpPr txBox="true"/>
          <p:nvPr/>
        </p:nvSpPr>
        <p:spPr>
          <a:xfrm rot="0">
            <a:off x="5756929" y="1085850"/>
            <a:ext cx="6774142" cy="930275"/>
          </a:xfrm>
          <a:prstGeom prst="rect">
            <a:avLst/>
          </a:prstGeom>
        </p:spPr>
        <p:txBody>
          <a:bodyPr anchor="t" rtlCol="false" tIns="0" lIns="0" bIns="0" rIns="0">
            <a:spAutoFit/>
          </a:bodyPr>
          <a:lstStyle/>
          <a:p>
            <a:pPr algn="ctr">
              <a:lnSpc>
                <a:spcPts val="7150"/>
              </a:lnSpc>
            </a:pPr>
            <a:r>
              <a:rPr lang="en-US" b="true" sz="6500" spc="-195">
                <a:solidFill>
                  <a:srgbClr val="2B3237"/>
                </a:solidFill>
                <a:latin typeface="Inter Semi-Bold"/>
                <a:ea typeface="Inter Semi-Bold"/>
                <a:cs typeface="Inter Semi-Bold"/>
                <a:sym typeface="Inter Semi-Bold"/>
              </a:rPr>
              <a:t>Hardware</a:t>
            </a:r>
          </a:p>
        </p:txBody>
      </p:sp>
      <p:grpSp>
        <p:nvGrpSpPr>
          <p:cNvPr name="Group 8" id="8"/>
          <p:cNvGrpSpPr/>
          <p:nvPr/>
        </p:nvGrpSpPr>
        <p:grpSpPr>
          <a:xfrm rot="0">
            <a:off x="12983092" y="2016125"/>
            <a:ext cx="4186495" cy="6659285"/>
            <a:chOff x="0" y="0"/>
            <a:chExt cx="5581994" cy="8879046"/>
          </a:xfrm>
        </p:grpSpPr>
        <p:sp>
          <p:nvSpPr>
            <p:cNvPr name="TextBox 9" id="9"/>
            <p:cNvSpPr txBox="true"/>
            <p:nvPr/>
          </p:nvSpPr>
          <p:spPr>
            <a:xfrm rot="0">
              <a:off x="69619" y="57150"/>
              <a:ext cx="5512375" cy="507577"/>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3D Fabrication</a:t>
              </a:r>
            </a:p>
          </p:txBody>
        </p:sp>
        <p:sp>
          <p:nvSpPr>
            <p:cNvPr name="TextBox 10" id="10"/>
            <p:cNvSpPr txBox="true"/>
            <p:nvPr/>
          </p:nvSpPr>
          <p:spPr>
            <a:xfrm rot="0">
              <a:off x="0" y="838200"/>
              <a:ext cx="5410200" cy="3085253"/>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In the 3D modeling part of the design, Cai has completed the twist-fit lock for the box, as well as individual fits for each component. He has also designed small boxes with airflow to hold the components.</a:t>
              </a:r>
            </a:p>
          </p:txBody>
        </p:sp>
        <p:sp>
          <p:nvSpPr>
            <p:cNvPr name="TextBox 11" id="11"/>
            <p:cNvSpPr txBox="true"/>
            <p:nvPr/>
          </p:nvSpPr>
          <p:spPr>
            <a:xfrm rot="0">
              <a:off x="69619" y="5457243"/>
              <a:ext cx="5512375" cy="507577"/>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Hardware Coding</a:t>
              </a:r>
            </a:p>
          </p:txBody>
        </p:sp>
        <p:sp>
          <p:nvSpPr>
            <p:cNvPr name="TextBox 12" id="12"/>
            <p:cNvSpPr txBox="true"/>
            <p:nvPr/>
          </p:nvSpPr>
          <p:spPr>
            <a:xfrm rot="0">
              <a:off x="0" y="6238293"/>
              <a:ext cx="5410200" cy="2640753"/>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As of now, the hardware code is working and functional. It collects data from all sensors, uses LoRa to send it to another module, and then sends it over WiFi to a server so the data can be updated in the app.</a:t>
              </a:r>
            </a:p>
          </p:txBody>
        </p:sp>
      </p:gr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sp>
        <p:nvSpPr>
          <p:cNvPr name="Freeform 2" id="2"/>
          <p:cNvSpPr/>
          <p:nvPr/>
        </p:nvSpPr>
        <p:spPr>
          <a:xfrm flipH="false" flipV="false" rot="0">
            <a:off x="-737664" y="-164473"/>
            <a:ext cx="22453743" cy="12181156"/>
          </a:xfrm>
          <a:custGeom>
            <a:avLst/>
            <a:gdLst/>
            <a:ahLst/>
            <a:cxnLst/>
            <a:rect r="r" b="b" t="t" l="l"/>
            <a:pathLst>
              <a:path h="12181156" w="22453743">
                <a:moveTo>
                  <a:pt x="0" y="0"/>
                </a:moveTo>
                <a:lnTo>
                  <a:pt x="22453744" y="0"/>
                </a:lnTo>
                <a:lnTo>
                  <a:pt x="22453744" y="12181156"/>
                </a:lnTo>
                <a:lnTo>
                  <a:pt x="0" y="12181156"/>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1779340" y="8253618"/>
            <a:ext cx="8292522" cy="3856023"/>
          </a:xfrm>
          <a:custGeom>
            <a:avLst/>
            <a:gdLst/>
            <a:ahLst/>
            <a:cxnLst/>
            <a:rect r="r" b="b" t="t" l="l"/>
            <a:pathLst>
              <a:path h="3856023" w="8292522">
                <a:moveTo>
                  <a:pt x="0" y="0"/>
                </a:moveTo>
                <a:lnTo>
                  <a:pt x="8292522" y="0"/>
                </a:lnTo>
                <a:lnTo>
                  <a:pt x="8292522" y="3856023"/>
                </a:lnTo>
                <a:lnTo>
                  <a:pt x="0" y="38560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222834" y="2635171"/>
            <a:ext cx="4394714" cy="6932607"/>
          </a:xfrm>
          <a:custGeom>
            <a:avLst/>
            <a:gdLst/>
            <a:ahLst/>
            <a:cxnLst/>
            <a:rect r="r" b="b" t="t" l="l"/>
            <a:pathLst>
              <a:path h="6932607" w="4394714">
                <a:moveTo>
                  <a:pt x="0" y="0"/>
                </a:moveTo>
                <a:lnTo>
                  <a:pt x="4394714" y="0"/>
                </a:lnTo>
                <a:lnTo>
                  <a:pt x="4394714" y="6932607"/>
                </a:lnTo>
                <a:lnTo>
                  <a:pt x="0" y="6932607"/>
                </a:lnTo>
                <a:lnTo>
                  <a:pt x="0" y="0"/>
                </a:lnTo>
                <a:close/>
              </a:path>
            </a:pathLst>
          </a:custGeom>
          <a:blipFill>
            <a:blip r:embed="rId6"/>
            <a:stretch>
              <a:fillRect l="0" t="-20187" r="-79851" b="0"/>
            </a:stretch>
          </a:blipFill>
          <a:ln w="28575" cap="rnd">
            <a:solidFill>
              <a:srgbClr val="000000"/>
            </a:solidFill>
            <a:prstDash val="solid"/>
            <a:round/>
          </a:ln>
        </p:spPr>
      </p:sp>
      <p:sp>
        <p:nvSpPr>
          <p:cNvPr name="Freeform 5" id="5"/>
          <p:cNvSpPr/>
          <p:nvPr/>
        </p:nvSpPr>
        <p:spPr>
          <a:xfrm flipH="false" flipV="false" rot="0">
            <a:off x="785099" y="444597"/>
            <a:ext cx="4795297" cy="6020655"/>
          </a:xfrm>
          <a:custGeom>
            <a:avLst/>
            <a:gdLst/>
            <a:ahLst/>
            <a:cxnLst/>
            <a:rect r="r" b="b" t="t" l="l"/>
            <a:pathLst>
              <a:path h="6020655" w="4795297">
                <a:moveTo>
                  <a:pt x="0" y="0"/>
                </a:moveTo>
                <a:lnTo>
                  <a:pt x="4795297" y="0"/>
                </a:lnTo>
                <a:lnTo>
                  <a:pt x="4795297" y="6020655"/>
                </a:lnTo>
                <a:lnTo>
                  <a:pt x="0" y="6020655"/>
                </a:lnTo>
                <a:lnTo>
                  <a:pt x="0" y="0"/>
                </a:lnTo>
                <a:close/>
              </a:path>
            </a:pathLst>
          </a:custGeom>
          <a:blipFill>
            <a:blip r:embed="rId7"/>
            <a:stretch>
              <a:fillRect l="0" t="0" r="0" b="0"/>
            </a:stretch>
          </a:blipFill>
          <a:ln w="28575" cap="rnd">
            <a:solidFill>
              <a:srgbClr val="000000"/>
            </a:solidFill>
            <a:prstDash val="solid"/>
            <a:round/>
          </a:ln>
        </p:spPr>
      </p:sp>
      <p:sp>
        <p:nvSpPr>
          <p:cNvPr name="TextBox 6" id="6"/>
          <p:cNvSpPr txBox="true"/>
          <p:nvPr/>
        </p:nvSpPr>
        <p:spPr>
          <a:xfrm rot="0">
            <a:off x="5756929" y="1085850"/>
            <a:ext cx="6774142" cy="930275"/>
          </a:xfrm>
          <a:prstGeom prst="rect">
            <a:avLst/>
          </a:prstGeom>
        </p:spPr>
        <p:txBody>
          <a:bodyPr anchor="t" rtlCol="false" tIns="0" lIns="0" bIns="0" rIns="0">
            <a:spAutoFit/>
          </a:bodyPr>
          <a:lstStyle/>
          <a:p>
            <a:pPr algn="ctr">
              <a:lnSpc>
                <a:spcPts val="7150"/>
              </a:lnSpc>
            </a:pPr>
            <a:r>
              <a:rPr lang="en-US" b="true" sz="6500" spc="-195">
                <a:solidFill>
                  <a:srgbClr val="2B3237"/>
                </a:solidFill>
                <a:latin typeface="Inter Semi-Bold"/>
                <a:ea typeface="Inter Semi-Bold"/>
                <a:cs typeface="Inter Semi-Bold"/>
                <a:sym typeface="Inter Semi-Bold"/>
              </a:rPr>
              <a:t>Software</a:t>
            </a:r>
          </a:p>
        </p:txBody>
      </p:sp>
      <p:grpSp>
        <p:nvGrpSpPr>
          <p:cNvPr name="Group 7" id="7"/>
          <p:cNvGrpSpPr/>
          <p:nvPr/>
        </p:nvGrpSpPr>
        <p:grpSpPr>
          <a:xfrm rot="0">
            <a:off x="1028700" y="6788602"/>
            <a:ext cx="5008858" cy="2596657"/>
            <a:chOff x="0" y="0"/>
            <a:chExt cx="6678478" cy="3462209"/>
          </a:xfrm>
        </p:grpSpPr>
        <p:sp>
          <p:nvSpPr>
            <p:cNvPr name="TextBox 8" id="8"/>
            <p:cNvSpPr txBox="true"/>
            <p:nvPr/>
          </p:nvSpPr>
          <p:spPr>
            <a:xfrm rot="0">
              <a:off x="69619" y="57150"/>
              <a:ext cx="6608859" cy="507577"/>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CropSentry App Backend</a:t>
              </a:r>
            </a:p>
          </p:txBody>
        </p:sp>
        <p:sp>
          <p:nvSpPr>
            <p:cNvPr name="TextBox 9" id="9"/>
            <p:cNvSpPr txBox="true"/>
            <p:nvPr/>
          </p:nvSpPr>
          <p:spPr>
            <a:xfrm rot="0">
              <a:off x="0" y="821456"/>
              <a:ext cx="5410200" cy="2640753"/>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Aahan has been working on designing key parts of the backend, such as the connection between the app and the server, additional testing code, and security code to ensure data safety.</a:t>
              </a:r>
            </a:p>
          </p:txBody>
        </p:sp>
      </p:grpSp>
      <p:sp>
        <p:nvSpPr>
          <p:cNvPr name="TextBox 10" id="10"/>
          <p:cNvSpPr txBox="true"/>
          <p:nvPr/>
        </p:nvSpPr>
        <p:spPr>
          <a:xfrm rot="0">
            <a:off x="13387589" y="1579563"/>
            <a:ext cx="4848197" cy="366395"/>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Server and Data Integration</a:t>
            </a:r>
          </a:p>
        </p:txBody>
      </p:sp>
      <p:sp>
        <p:nvSpPr>
          <p:cNvPr name="TextBox 11" id="11"/>
          <p:cNvSpPr txBox="true"/>
          <p:nvPr/>
        </p:nvSpPr>
        <p:spPr>
          <a:xfrm rot="0">
            <a:off x="13387589" y="2141537"/>
            <a:ext cx="4057650" cy="4323715"/>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Aahan has also been working on the server integration with all our designs so we can get data flowing as soon as possible. Right now, he has been testing with nGrok’s local server system.</a:t>
            </a:r>
          </a:p>
          <a:p>
            <a:pPr algn="l">
              <a:lnSpc>
                <a:spcPts val="2660"/>
              </a:lnSpc>
            </a:pPr>
          </a:p>
          <a:p>
            <a:pPr algn="l">
              <a:lnSpc>
                <a:spcPts val="2660"/>
              </a:lnSpc>
            </a:pPr>
            <a:r>
              <a:rPr lang="en-US" sz="1900">
                <a:solidFill>
                  <a:srgbClr val="2B3237"/>
                </a:solidFill>
                <a:latin typeface="Inter"/>
                <a:ea typeface="Inter"/>
                <a:cs typeface="Inter"/>
                <a:sym typeface="Inter"/>
              </a:rPr>
              <a:t>In addition to all of this, he and Dylan Nham (CropSentry Collaborator) have been looking into UI color gradient designs for the app and all things involved with the user interface.</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sp>
        <p:nvSpPr>
          <p:cNvPr name="Freeform 2" id="2"/>
          <p:cNvSpPr/>
          <p:nvPr/>
        </p:nvSpPr>
        <p:spPr>
          <a:xfrm flipH="false" flipV="false" rot="0">
            <a:off x="-737664" y="-164473"/>
            <a:ext cx="22453743" cy="12181156"/>
          </a:xfrm>
          <a:custGeom>
            <a:avLst/>
            <a:gdLst/>
            <a:ahLst/>
            <a:cxnLst/>
            <a:rect r="r" b="b" t="t" l="l"/>
            <a:pathLst>
              <a:path h="12181156" w="22453743">
                <a:moveTo>
                  <a:pt x="0" y="0"/>
                </a:moveTo>
                <a:lnTo>
                  <a:pt x="22453744" y="0"/>
                </a:lnTo>
                <a:lnTo>
                  <a:pt x="22453744" y="12181156"/>
                </a:lnTo>
                <a:lnTo>
                  <a:pt x="0" y="12181156"/>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45451" y="3311373"/>
            <a:ext cx="10179540" cy="5762004"/>
          </a:xfrm>
          <a:custGeom>
            <a:avLst/>
            <a:gdLst/>
            <a:ahLst/>
            <a:cxnLst/>
            <a:rect r="r" b="b" t="t" l="l"/>
            <a:pathLst>
              <a:path h="5762004" w="10179540">
                <a:moveTo>
                  <a:pt x="0" y="0"/>
                </a:moveTo>
                <a:lnTo>
                  <a:pt x="10179540" y="0"/>
                </a:lnTo>
                <a:lnTo>
                  <a:pt x="10179540" y="5762003"/>
                </a:lnTo>
                <a:lnTo>
                  <a:pt x="0" y="5762003"/>
                </a:lnTo>
                <a:lnTo>
                  <a:pt x="0" y="0"/>
                </a:lnTo>
                <a:close/>
              </a:path>
            </a:pathLst>
          </a:custGeom>
          <a:blipFill>
            <a:blip r:embed="rId4"/>
            <a:stretch>
              <a:fillRect l="0" t="0" r="0" b="0"/>
            </a:stretch>
          </a:blipFill>
          <a:ln w="28575" cap="rnd">
            <a:solidFill>
              <a:srgbClr val="000000"/>
            </a:solidFill>
            <a:prstDash val="solid"/>
            <a:round/>
          </a:ln>
        </p:spPr>
      </p:sp>
      <p:sp>
        <p:nvSpPr>
          <p:cNvPr name="TextBox 4" id="4"/>
          <p:cNvSpPr txBox="true"/>
          <p:nvPr/>
        </p:nvSpPr>
        <p:spPr>
          <a:xfrm rot="0">
            <a:off x="5756929" y="1085850"/>
            <a:ext cx="6774142" cy="930275"/>
          </a:xfrm>
          <a:prstGeom prst="rect">
            <a:avLst/>
          </a:prstGeom>
        </p:spPr>
        <p:txBody>
          <a:bodyPr anchor="t" rtlCol="false" tIns="0" lIns="0" bIns="0" rIns="0">
            <a:spAutoFit/>
          </a:bodyPr>
          <a:lstStyle/>
          <a:p>
            <a:pPr algn="l">
              <a:lnSpc>
                <a:spcPts val="7150"/>
              </a:lnSpc>
            </a:pPr>
            <a:r>
              <a:rPr lang="en-US" sz="6500" spc="-195" b="true">
                <a:solidFill>
                  <a:srgbClr val="2B3237"/>
                </a:solidFill>
                <a:latin typeface="Inter Semi-Bold"/>
                <a:ea typeface="Inter Semi-Bold"/>
                <a:cs typeface="Inter Semi-Bold"/>
                <a:sym typeface="Inter Semi-Bold"/>
              </a:rPr>
              <a:t>Machine Learning</a:t>
            </a:r>
          </a:p>
        </p:txBody>
      </p:sp>
      <p:sp>
        <p:nvSpPr>
          <p:cNvPr name="TextBox 5" id="5"/>
          <p:cNvSpPr txBox="true"/>
          <p:nvPr/>
        </p:nvSpPr>
        <p:spPr>
          <a:xfrm rot="0">
            <a:off x="853732" y="6860186"/>
            <a:ext cx="4134282" cy="366395"/>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Next Steps</a:t>
            </a:r>
          </a:p>
        </p:txBody>
      </p:sp>
      <p:sp>
        <p:nvSpPr>
          <p:cNvPr name="TextBox 6" id="6"/>
          <p:cNvSpPr txBox="true"/>
          <p:nvPr/>
        </p:nvSpPr>
        <p:spPr>
          <a:xfrm rot="0">
            <a:off x="801518" y="7422160"/>
            <a:ext cx="4955411" cy="1990090"/>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The next step with the Machine Learning model is to integrate it into the process so we get data flowing through every system as soon as possible. Aahan is working heavily on mass integration with the server and information passing through it.</a:t>
            </a:r>
          </a:p>
        </p:txBody>
      </p:sp>
      <p:sp>
        <p:nvSpPr>
          <p:cNvPr name="TextBox 7" id="7"/>
          <p:cNvSpPr txBox="true"/>
          <p:nvPr/>
        </p:nvSpPr>
        <p:spPr>
          <a:xfrm rot="0">
            <a:off x="853732" y="2711298"/>
            <a:ext cx="4134282" cy="366395"/>
          </a:xfrm>
          <a:prstGeom prst="rect">
            <a:avLst/>
          </a:prstGeom>
        </p:spPr>
        <p:txBody>
          <a:bodyPr anchor="t" rtlCol="false" tIns="0" lIns="0" bIns="0" rIns="0">
            <a:spAutoFit/>
          </a:bodyPr>
          <a:lstStyle/>
          <a:p>
            <a:pPr algn="l">
              <a:lnSpc>
                <a:spcPts val="2799"/>
              </a:lnSpc>
              <a:spcBef>
                <a:spcPct val="0"/>
              </a:spcBef>
            </a:pPr>
            <a:r>
              <a:rPr lang="en-US" sz="2799" b="true">
                <a:solidFill>
                  <a:srgbClr val="2B3237"/>
                </a:solidFill>
                <a:latin typeface="Inter Semi-Bold"/>
                <a:ea typeface="Inter Semi-Bold"/>
                <a:cs typeface="Inter Semi-Bold"/>
                <a:sym typeface="Inter Semi-Bold"/>
              </a:rPr>
              <a:t>Progress</a:t>
            </a:r>
          </a:p>
        </p:txBody>
      </p:sp>
      <p:sp>
        <p:nvSpPr>
          <p:cNvPr name="TextBox 8" id="8"/>
          <p:cNvSpPr txBox="true"/>
          <p:nvPr/>
        </p:nvSpPr>
        <p:spPr>
          <a:xfrm rot="0">
            <a:off x="801518" y="3273273"/>
            <a:ext cx="4955411" cy="1990090"/>
          </a:xfrm>
          <a:prstGeom prst="rect">
            <a:avLst/>
          </a:prstGeom>
        </p:spPr>
        <p:txBody>
          <a:bodyPr anchor="t" rtlCol="false" tIns="0" lIns="0" bIns="0" rIns="0">
            <a:spAutoFit/>
          </a:bodyPr>
          <a:lstStyle/>
          <a:p>
            <a:pPr algn="l">
              <a:lnSpc>
                <a:spcPts val="2660"/>
              </a:lnSpc>
            </a:pPr>
            <a:r>
              <a:rPr lang="en-US" sz="1900">
                <a:solidFill>
                  <a:srgbClr val="2B3237"/>
                </a:solidFill>
                <a:latin typeface="Inter"/>
                <a:ea typeface="Inter"/>
                <a:cs typeface="Inter"/>
                <a:sym typeface="Inter"/>
              </a:rPr>
              <a:t>These last few weeks, Jay completed the Machine Learning Model for CropSentry. The goal of it is to assess information and data provided by the hardware and make a decision on whether the condition is up to standard or not.</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737664" y="-164473"/>
            <a:ext cx="22453743" cy="12181156"/>
          </a:xfrm>
          <a:custGeom>
            <a:avLst/>
            <a:gdLst/>
            <a:ahLst/>
            <a:cxnLst/>
            <a:rect r="r" b="b" t="t" l="l"/>
            <a:pathLst>
              <a:path h="12181156" w="22453743">
                <a:moveTo>
                  <a:pt x="0" y="0"/>
                </a:moveTo>
                <a:lnTo>
                  <a:pt x="22453744" y="0"/>
                </a:lnTo>
                <a:lnTo>
                  <a:pt x="22453744" y="12181156"/>
                </a:lnTo>
                <a:lnTo>
                  <a:pt x="0" y="12181156"/>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7088615" y="-309613"/>
            <a:ext cx="16834345" cy="9897192"/>
          </a:xfrm>
          <a:custGeom>
            <a:avLst/>
            <a:gdLst/>
            <a:ahLst/>
            <a:cxnLst/>
            <a:rect r="r" b="b" t="t" l="l"/>
            <a:pathLst>
              <a:path h="9897192" w="16834345">
                <a:moveTo>
                  <a:pt x="16834344" y="0"/>
                </a:moveTo>
                <a:lnTo>
                  <a:pt x="0" y="0"/>
                </a:lnTo>
                <a:lnTo>
                  <a:pt x="0" y="9897192"/>
                </a:lnTo>
                <a:lnTo>
                  <a:pt x="16834344" y="9897192"/>
                </a:lnTo>
                <a:lnTo>
                  <a:pt x="1683434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530633" y="2579145"/>
            <a:ext cx="1226734" cy="2303726"/>
          </a:xfrm>
          <a:custGeom>
            <a:avLst/>
            <a:gdLst/>
            <a:ahLst/>
            <a:cxnLst/>
            <a:rect r="r" b="b" t="t" l="l"/>
            <a:pathLst>
              <a:path h="2303726" w="1226734">
                <a:moveTo>
                  <a:pt x="0" y="0"/>
                </a:moveTo>
                <a:lnTo>
                  <a:pt x="1226734" y="0"/>
                </a:lnTo>
                <a:lnTo>
                  <a:pt x="1226734" y="2303726"/>
                </a:lnTo>
                <a:lnTo>
                  <a:pt x="0" y="23037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123200" y="6477187"/>
            <a:ext cx="149119" cy="223819"/>
          </a:xfrm>
          <a:custGeom>
            <a:avLst/>
            <a:gdLst/>
            <a:ahLst/>
            <a:cxnLst/>
            <a:rect r="r" b="b" t="t" l="l"/>
            <a:pathLst>
              <a:path h="223819" w="149119">
                <a:moveTo>
                  <a:pt x="0" y="0"/>
                </a:moveTo>
                <a:lnTo>
                  <a:pt x="149119" y="0"/>
                </a:lnTo>
                <a:lnTo>
                  <a:pt x="149119" y="223819"/>
                </a:lnTo>
                <a:lnTo>
                  <a:pt x="0" y="2238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6829300">
            <a:off x="-1583998" y="-2686234"/>
            <a:ext cx="4867000" cy="5043523"/>
          </a:xfrm>
          <a:custGeom>
            <a:avLst/>
            <a:gdLst/>
            <a:ahLst/>
            <a:cxnLst/>
            <a:rect r="r" b="b" t="t" l="l"/>
            <a:pathLst>
              <a:path h="5043523" w="4867000">
                <a:moveTo>
                  <a:pt x="0" y="0"/>
                </a:moveTo>
                <a:lnTo>
                  <a:pt x="4867000" y="0"/>
                </a:lnTo>
                <a:lnTo>
                  <a:pt x="4867000" y="5043523"/>
                </a:lnTo>
                <a:lnTo>
                  <a:pt x="0" y="5043523"/>
                </a:lnTo>
                <a:lnTo>
                  <a:pt x="0" y="0"/>
                </a:lnTo>
                <a:close/>
              </a:path>
            </a:pathLst>
          </a:custGeom>
          <a:blipFill>
            <a:blip r:embed="rId10">
              <a:alphaModFix amt="6300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028700" y="3235708"/>
            <a:ext cx="5150218" cy="1066800"/>
          </a:xfrm>
          <a:prstGeom prst="rect">
            <a:avLst/>
          </a:prstGeom>
        </p:spPr>
        <p:txBody>
          <a:bodyPr anchor="t" rtlCol="false" tIns="0" lIns="0" bIns="0" rIns="0">
            <a:spAutoFit/>
          </a:bodyPr>
          <a:lstStyle/>
          <a:p>
            <a:pPr algn="l">
              <a:lnSpc>
                <a:spcPts val="8250"/>
              </a:lnSpc>
            </a:pPr>
            <a:r>
              <a:rPr lang="en-US" sz="7500" spc="-225" b="true">
                <a:solidFill>
                  <a:srgbClr val="2B3237"/>
                </a:solidFill>
                <a:latin typeface="Inter Semi-Bold"/>
                <a:ea typeface="Inter Semi-Bold"/>
                <a:cs typeface="Inter Semi-Bold"/>
                <a:sym typeface="Inter Semi-Bold"/>
              </a:rPr>
              <a:t>Q/A</a:t>
            </a:r>
          </a:p>
        </p:txBody>
      </p:sp>
      <p:sp>
        <p:nvSpPr>
          <p:cNvPr name="TextBox 8" id="8"/>
          <p:cNvSpPr txBox="true"/>
          <p:nvPr/>
        </p:nvSpPr>
        <p:spPr>
          <a:xfrm rot="0">
            <a:off x="1028700" y="4632512"/>
            <a:ext cx="6221193" cy="701675"/>
          </a:xfrm>
          <a:prstGeom prst="rect">
            <a:avLst/>
          </a:prstGeom>
        </p:spPr>
        <p:txBody>
          <a:bodyPr anchor="t" rtlCol="false" tIns="0" lIns="0" bIns="0" rIns="0">
            <a:spAutoFit/>
          </a:bodyPr>
          <a:lstStyle/>
          <a:p>
            <a:pPr algn="l">
              <a:lnSpc>
                <a:spcPts val="2800"/>
              </a:lnSpc>
            </a:pPr>
            <a:r>
              <a:rPr lang="en-US" sz="2000">
                <a:solidFill>
                  <a:srgbClr val="2B3237"/>
                </a:solidFill>
                <a:latin typeface="Inter"/>
                <a:ea typeface="Inter"/>
                <a:cs typeface="Inter"/>
                <a:sym typeface="Inter"/>
              </a:rPr>
              <a:t>Thank you for being a part of this presentation! Any questions are appreciated.</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DAHYi3YhpgM</dc:identifier>
  <dcterms:modified xsi:type="dcterms:W3CDTF">2011-08-01T06:04:30Z</dcterms:modified>
  <cp:revision>1</cp:revision>
  <dc:title>CropSentry_Update_MGA_Presentation_10-20-2026</dc:title>
</cp:coreProperties>
</file>